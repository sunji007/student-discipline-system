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3e243e92b147ff" /><Relationship Type="http://schemas.openxmlformats.org/officeDocument/2006/relationships/extended-properties" Target="/docProps/app.xml" Id="R2ee0718a1d8744b1" /><Relationship Type="http://schemas.openxmlformats.org/officeDocument/2006/relationships/officeDocument" Target="/ppt/presentation.xml" Id="R384d50d1279c40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c4145a5aaf45c7"/>
  </p:sldMasterIdLst>
  <p:notesMasterIdLst>
    <p:notesMasterId xmlns:r="http://schemas.openxmlformats.org/officeDocument/2006/relationships" r:id="Ra840a572f4a8489a"/>
  </p:notesMasterIdLst>
  <p:sldIdLst>
    <p:sldId xmlns:r="http://schemas.openxmlformats.org/officeDocument/2006/relationships" id="256" r:id="R521cd258ec454a9e"/>
    <p:sldId xmlns:r="http://schemas.openxmlformats.org/officeDocument/2006/relationships" id="257" r:id="R1e3c75c111da49c2"/>
    <p:sldId xmlns:r="http://schemas.openxmlformats.org/officeDocument/2006/relationships" id="258" r:id="R70f91f254ad8406c"/>
    <p:sldId xmlns:r="http://schemas.openxmlformats.org/officeDocument/2006/relationships" id="259" r:id="Rb7a01d5311c44458"/>
    <p:sldId xmlns:r="http://schemas.openxmlformats.org/officeDocument/2006/relationships" id="260" r:id="R4f6a2b3b019e47f6"/>
    <p:sldId xmlns:r="http://schemas.openxmlformats.org/officeDocument/2006/relationships" id="261" r:id="R3a25d54c19734ec6"/>
    <p:sldId xmlns:r="http://schemas.openxmlformats.org/officeDocument/2006/relationships" id="262" r:id="R00faa9f5e7da4764"/>
    <p:sldId xmlns:r="http://schemas.openxmlformats.org/officeDocument/2006/relationships" id="263" r:id="R7b11e5c88df84290"/>
    <p:sldId xmlns:r="http://schemas.openxmlformats.org/officeDocument/2006/relationships" id="264" r:id="R863899024feb4e25"/>
    <p:sldId xmlns:r="http://schemas.openxmlformats.org/officeDocument/2006/relationships" id="265" r:id="Rbe7667fa837144c7"/>
    <p:sldId xmlns:r="http://schemas.openxmlformats.org/officeDocument/2006/relationships" id="266" r:id="Ra9ccbefc19bc4593"/>
    <p:sldId xmlns:r="http://schemas.openxmlformats.org/officeDocument/2006/relationships" id="267" r:id="Rb94105c4991840d1"/>
    <p:sldId xmlns:r="http://schemas.openxmlformats.org/officeDocument/2006/relationships" id="268" r:id="R1e0faa4d59a244fd"/>
    <p:sldId xmlns:r="http://schemas.openxmlformats.org/officeDocument/2006/relationships" id="269" r:id="R9e51a115deb34a98"/>
    <p:sldId xmlns:r="http://schemas.openxmlformats.org/officeDocument/2006/relationships" id="270" r:id="R745d2442268e4a83"/>
    <p:sldId xmlns:r="http://schemas.openxmlformats.org/officeDocument/2006/relationships" id="271" r:id="Ra8c7635769494c21"/>
    <p:sldId xmlns:r="http://schemas.openxmlformats.org/officeDocument/2006/relationships" id="272" r:id="R73062180c46b439c"/>
    <p:sldId xmlns:r="http://schemas.openxmlformats.org/officeDocument/2006/relationships" id="273" r:id="R66d86c04d87d4229"/>
    <p:sldId xmlns:r="http://schemas.openxmlformats.org/officeDocument/2006/relationships" id="274" r:id="R278a96445c284d45"/>
    <p:sldId xmlns:r="http://schemas.openxmlformats.org/officeDocument/2006/relationships" id="275" r:id="R15081f9bca4c42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d260f800014841" /><Relationship Type="http://schemas.openxmlformats.org/officeDocument/2006/relationships/slideMaster" Target="/ppt/slideMasters/slideMaster1.xml" Id="R1fc4145a5aaf45c7" /><Relationship Type="http://schemas.openxmlformats.org/officeDocument/2006/relationships/notesMaster" Target="/ppt/notesMasters/notesMaster1.xml" Id="Ra840a572f4a8489a" /><Relationship Type="http://schemas.openxmlformats.org/officeDocument/2006/relationships/presProps" Target="/ppt/presProps.xml" Id="R1e966975de8745c3" /><Relationship Type="http://schemas.openxmlformats.org/officeDocument/2006/relationships/tableStyles" Target="/ppt/tableStyles.xml" Id="R99621e8e94404f47" /><Relationship Type="http://schemas.openxmlformats.org/officeDocument/2006/relationships/slide" Target="/ppt/slides/slide1.xml" Id="R521cd258ec454a9e" /><Relationship Type="http://schemas.openxmlformats.org/officeDocument/2006/relationships/slide" Target="/ppt/slides/slide2.xml" Id="R1e3c75c111da49c2" /><Relationship Type="http://schemas.openxmlformats.org/officeDocument/2006/relationships/slide" Target="/ppt/slides/slide3.xml" Id="R70f91f254ad8406c" /><Relationship Type="http://schemas.openxmlformats.org/officeDocument/2006/relationships/slide" Target="/ppt/slides/slide4.xml" Id="Rb7a01d5311c44458" /><Relationship Type="http://schemas.openxmlformats.org/officeDocument/2006/relationships/slide" Target="/ppt/slides/slide5.xml" Id="R4f6a2b3b019e47f6" /><Relationship Type="http://schemas.openxmlformats.org/officeDocument/2006/relationships/slide" Target="/ppt/slides/slide6.xml" Id="R3a25d54c19734ec6" /><Relationship Type="http://schemas.openxmlformats.org/officeDocument/2006/relationships/slide" Target="/ppt/slides/slide7.xml" Id="R00faa9f5e7da4764" /><Relationship Type="http://schemas.openxmlformats.org/officeDocument/2006/relationships/slide" Target="/ppt/slides/slide8.xml" Id="R7b11e5c88df84290" /><Relationship Type="http://schemas.openxmlformats.org/officeDocument/2006/relationships/slide" Target="/ppt/slides/slide9.xml" Id="R863899024feb4e25" /><Relationship Type="http://schemas.openxmlformats.org/officeDocument/2006/relationships/slide" Target="/ppt/slides/slide10.xml" Id="Rbe7667fa837144c7" /><Relationship Type="http://schemas.openxmlformats.org/officeDocument/2006/relationships/slide" Target="/ppt/slides/slide11.xml" Id="Ra9ccbefc19bc4593" /><Relationship Type="http://schemas.openxmlformats.org/officeDocument/2006/relationships/slide" Target="/ppt/slides/slide12.xml" Id="Rb94105c4991840d1" /><Relationship Type="http://schemas.openxmlformats.org/officeDocument/2006/relationships/slide" Target="/ppt/slides/slide13.xml" Id="R1e0faa4d59a244fd" /><Relationship Type="http://schemas.openxmlformats.org/officeDocument/2006/relationships/slide" Target="/ppt/slides/slide14.xml" Id="R9e51a115deb34a98" /><Relationship Type="http://schemas.openxmlformats.org/officeDocument/2006/relationships/slide" Target="/ppt/slides/slide15.xml" Id="R745d2442268e4a83" /><Relationship Type="http://schemas.openxmlformats.org/officeDocument/2006/relationships/slide" Target="/ppt/slides/slide16.xml" Id="Ra8c7635769494c21" /><Relationship Type="http://schemas.openxmlformats.org/officeDocument/2006/relationships/slide" Target="/ppt/slides/slide17.xml" Id="R73062180c46b439c" /><Relationship Type="http://schemas.openxmlformats.org/officeDocument/2006/relationships/slide" Target="/ppt/slides/slide18.xml" Id="R66d86c04d87d4229" /><Relationship Type="http://schemas.openxmlformats.org/officeDocument/2006/relationships/slide" Target="/ppt/slides/slide19.xml" Id="R278a96445c284d45" /><Relationship Type="http://schemas.openxmlformats.org/officeDocument/2006/relationships/slide" Target="/ppt/slides/slide20.xml" Id="R15081f9bca4c42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be2398966846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24f7df66824637" /><Relationship Type="http://schemas.openxmlformats.org/officeDocument/2006/relationships/notesMaster" Target="/ppt/notesMasters/notesMaster1.xml" Id="R86dc1159d6e74f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1b299be81d47e6" /><Relationship Type="http://schemas.openxmlformats.org/officeDocument/2006/relationships/notesMaster" Target="/ppt/notesMasters/notesMaster1.xml" Id="R4f8590c26ccf45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595851433b4773" /><Relationship Type="http://schemas.openxmlformats.org/officeDocument/2006/relationships/notesMaster" Target="/ppt/notesMasters/notesMaster1.xml" Id="Recb09b81b5444a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b0967a4cae4d77" /><Relationship Type="http://schemas.openxmlformats.org/officeDocument/2006/relationships/notesMaster" Target="/ppt/notesMasters/notesMaster1.xml" Id="R731b6015c4d846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31c2b6e3004d4c" /><Relationship Type="http://schemas.openxmlformats.org/officeDocument/2006/relationships/notesMaster" Target="/ppt/notesMasters/notesMaster1.xml" Id="R8c6cda49cf504d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3e7a2cf0fb4d9f" /><Relationship Type="http://schemas.openxmlformats.org/officeDocument/2006/relationships/notesMaster" Target="/ppt/notesMasters/notesMaster1.xml" Id="Rf20602a5e4f24a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f156ff9215490d" /><Relationship Type="http://schemas.openxmlformats.org/officeDocument/2006/relationships/notesMaster" Target="/ppt/notesMasters/notesMaster1.xml" Id="Re309fae0ef7a4c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949f82d0214dd4" /><Relationship Type="http://schemas.openxmlformats.org/officeDocument/2006/relationships/notesMaster" Target="/ppt/notesMasters/notesMaster1.xml" Id="R291327cc74d048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1140c52a9b41fd" /><Relationship Type="http://schemas.openxmlformats.org/officeDocument/2006/relationships/notesMaster" Target="/ppt/notesMasters/notesMaster1.xml" Id="Ra461cf5b5cca43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926a9a3bc045d8" /><Relationship Type="http://schemas.openxmlformats.org/officeDocument/2006/relationships/notesMaster" Target="/ppt/notesMasters/notesMaster1.xml" Id="Rc0cc46686c964a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bdb9b185b242fe" /><Relationship Type="http://schemas.openxmlformats.org/officeDocument/2006/relationships/notesMaster" Target="/ppt/notesMasters/notesMaster1.xml" Id="R025675dcf6b944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9762c3b61643bf" /><Relationship Type="http://schemas.openxmlformats.org/officeDocument/2006/relationships/notesMaster" Target="/ppt/notesMasters/notesMaster1.xml" Id="R9de5e96b2c7c4a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12bd320d0d419a" /><Relationship Type="http://schemas.openxmlformats.org/officeDocument/2006/relationships/notesMaster" Target="/ppt/notesMasters/notesMaster1.xml" Id="R4cbcadcd38c741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9ba43ee5c14138" /><Relationship Type="http://schemas.openxmlformats.org/officeDocument/2006/relationships/notesMaster" Target="/ppt/notesMasters/notesMaster1.xml" Id="R6122c7885c9d49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1fd1c9cd324587" /><Relationship Type="http://schemas.openxmlformats.org/officeDocument/2006/relationships/notesMaster" Target="/ppt/notesMasters/notesMaster1.xml" Id="R42ce07aa561c48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775fcf978c4e1d" /><Relationship Type="http://schemas.openxmlformats.org/officeDocument/2006/relationships/notesMaster" Target="/ppt/notesMasters/notesMaster1.xml" Id="R93842c8f11c248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9ffb9863e04304" /><Relationship Type="http://schemas.openxmlformats.org/officeDocument/2006/relationships/notesMaster" Target="/ppt/notesMasters/notesMaster1.xml" Id="Re94a494fe05446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e7f440ce0146cc" /><Relationship Type="http://schemas.openxmlformats.org/officeDocument/2006/relationships/notesMaster" Target="/ppt/notesMasters/notesMaster1.xml" Id="Ra86e51711e66458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898101716ef4a3b" /><Relationship Type="http://schemas.openxmlformats.org/officeDocument/2006/relationships/notesMaster" Target="/ppt/notesMasters/notesMaster1.xml" Id="R23dcc5276da74f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9c41ce2f5a64715" /><Relationship Type="http://schemas.openxmlformats.org/officeDocument/2006/relationships/notesMaster" Target="/ppt/notesMasters/notesMaster1.xml" Id="Ra016bcd8fca346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25 วินาที</a:t>
            </a:r>
          </a:p>
          <a:p xmlns:a="http://schemas.openxmlformats.org/drawingml/2006/main">
            <a:r>
              <a:t>นำเสนอระบบสารสนเทศการบริหารงานวินัยและติดตามพฤติกรรมนักเรียน กรณีศึกษาโรงเรียนศิริราษฎร์สามัคคี จังหวัดปัตตานี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20 วินาที</a:t>
            </a:r>
          </a:p>
          <a:p xmlns:a="http://schemas.openxmlformats.org/drawingml/2006/main">
            <a:r>
              <a:t>แนะนำผู้วิจัย นายตอริก ลือแมะ นายบุสริน มูซอ และที่ปรึกษา อ.แพรวศรี เดิมราช อ.รุสนี กาแมแล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35 วินาที</a:t>
            </a:r>
          </a:p>
          <a:p xmlns:a="http://schemas.openxmlformats.org/drawingml/2006/main">
            <a:r>
              <a:t>ระบบเดิมบันทึกกระดาษ ข้อมูลกระจัดกระจาย ค้นหาและสรุปช้า ผู้ใช้งานคือโรงเรียน ครู นักเรียน และผู้ปกครอง ระบบใหม่รวมข้อมูลวินัยเพื่อช่วยติดตามและตรวจสอบ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20 วินาที</a:t>
            </a:r>
          </a:p>
          <a:p xmlns:a="http://schemas.openxmlformats.org/drawingml/2006/main">
            <a:r>
              <a:t>ใช้แผนผังก้างปลาสรุปสาเหตุของปัญหาเดิม ไม่อ่านรายละเอียดทุกกิ่ง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25 วินาที</a:t>
            </a:r>
          </a:p>
          <a:p xmlns:a="http://schemas.openxmlformats.org/drawingml/2006/main">
            <a:r>
              <a:t>สามวัตถุประสงค์: วิเคราะห์ออกแบบและพัฒนาระบบ ประเมินคุณภาพโดยผู้เชี่ยวชาญ และประเมินความพึงพอใจของผู้ใช้งาน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30 วินาที</a:t>
            </a:r>
          </a:p>
          <a:p xmlns:a="http://schemas.openxmlformats.org/drawingml/2006/main">
            <a:r>
              <a:t>ผู้ใช้ 5 บทบาท ประชากรที่ศึกษา: นักเรียน ผู้ปกครอง ครูประจำชั้น และฝ่ายปกครอง กลุ่มตัวอย่าง 30 คน เลือกแบบเจาะจง: นักเรียน12 ผู้ปกครอง12 ครู3 ฝ่ายปกครอง3 ตามบท3 หน้า58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25 วินาที</a:t>
            </a:r>
          </a:p>
          <a:p xmlns:a="http://schemas.openxmlformats.org/drawingml/2006/main">
            <a:r>
              <a:t>เลือกแนวคิดที่ใช้จริง ได้แก่ SDLC การจัดการฐานข้อมูล การแบ่งสิทธิ์ และการประเมินระบบ ภาพโลโก้แสดงเครื่องมือพัฒนาเว็บตามเล่มและโครงงาน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55 วินาที</a:t>
            </a:r>
          </a:p>
          <a:p xmlns:a="http://schemas.openxmlformats.org/drawingml/2006/main">
            <a:r>
              <a:t>อธิบาย SDLC 7 ขั้นตามกิจกรรมของโครงงาน ตั้งแต่ปัญหากระดาษ วิเคราะห์ผู้ใช้5บทบาท ออกแบบDFD/ฐานข้อมูล พัฒนาPHP/MySQL ทดสอบ ติดตั้ง และนำข้อเสนอแนะมาปรับปรุง ไม่อ้างว่าประเมินเสร็จแล้ว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35 วินาที</a:t>
            </a:r>
          </a:p>
          <a:p xmlns:a="http://schemas.openxmlformats.org/drawingml/2006/main">
            <a:r>
              <a:t>งานที่เกี่ยวข้องสามเรื่องสนับสนุนการใช้ SDLC การติดตามเข้าเรียนร่วมกับผู้ปกครอง และการสรุปพฤติกรรมรายบุคคล ไม่ยกค่าคะแนนของงานอื่นเป็นผลของโครงงานนี้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35 วินาที</a:t>
            </a:r>
          </a:p>
          <a:p xmlns:a="http://schemas.openxmlformats.org/drawingml/2006/main">
            <a:r>
              <a:t>DFD Level0 แสดงการแลกเปลี่ยนข้อมูลระหว่างระบบกับผู้ใช้แต่ละบทบาท เลือกอธิบายข้อมูลเข้าและรายงานผลที่สำคัญ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20 วินาที</a:t>
            </a:r>
          </a:p>
          <a:p xmlns:a="http://schemas.openxmlformats.org/drawingml/2006/main">
            <a:r>
              <a:t>ฝ่ายปกครองใช้แดชบอร์ดดูคะแนนและสถิติในภาพเดียว ช่วยเห็นภาพรวมสำหรับติดตามนักเรียน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25 วินาที</a:t>
            </a:r>
          </a:p>
          <a:p xmlns:a="http://schemas.openxmlformats.org/drawingml/2006/main">
            <a:r>
              <a:t>ครูและฝ่ายปกครองบันทึกพฤติกรรมบวก/ลบ อ้างอิงเกณฑ์คะแนนและหลักฐาน เพื่อลดข้อมูลแยกหลายแฟ้ม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20 วินาที</a:t>
            </a:r>
          </a:p>
          <a:p xmlns:a="http://schemas.openxmlformats.org/drawingml/2006/main">
            <a:r>
              <a:t>นักเรียนยื่นอุทธรณ์ ฝ่ายปกครองตรวจสอบหลักฐานและสถานะคำร้อง ช่วยให้ตรวจสอบกระบวนการได้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20 วินาที</a:t>
            </a:r>
          </a:p>
          <a:p xmlns:a="http://schemas.openxmlformats.org/drawingml/2006/main">
            <a:r>
              <a:t>ครูบันทึกการเข้าเรียนและเปิดประวัติย้อนหลัง เพื่อติดตามการมาเรียนรายบุคคล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20 วินาที</a:t>
            </a:r>
          </a:p>
          <a:p xmlns:a="http://schemas.openxmlformats.org/drawingml/2006/main">
            <a:r>
              <a:t>ครูติดตามการร่วมกิจกรรมละหมาดทั้งภาพรวมและรายบุคคล แสดงตัวอย่างหน้าระบบจริง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20 วินาที</a:t>
            </a:r>
          </a:p>
          <a:p xmlns:a="http://schemas.openxmlformats.org/drawingml/2006/main">
            <a:r>
              <a:t>ผู้ปกครองดูข้อมูลบุตรหลานผ่านระบบ ช่วยให้รับรู้ข้อมูลพฤติกรรมร่วมกับโรงเรียน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35 วินาที</a:t>
            </a:r>
          </a:p>
          <a:p xmlns:a="http://schemas.openxmlformats.org/drawingml/2006/main">
            <a:r>
              <a:t>โครงสร้างกรณีทดสอบตามแนวทาง6ด้านรวม15ข้อ เกณฑ์ภาพรวมผ่านอย่างน้อย85% ยังไม่มีผลทดสอบจริง ตามคำยืนยันของผู้วิจัย จึงไม่ระบุจำนวนผ่านหรือร้อยละ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35 วินาที</a:t>
            </a:r>
          </a:p>
          <a:p xmlns:a="http://schemas.openxmlformats.org/drawingml/2006/main">
            <a:r>
              <a:t>ประเมินคุณภาพโดยผู้เชี่ยวชาญและความพึงพอใจโดยผู้ใช้งาน30คน รายงานค่าเฉลี่ย S.D. และระดับจากข้อมูลจริง ตารางในPDF168–171ยังว่างและผู้วิจัยยืนยันว่ายังไม่มีผล จึงแสดงรอผลจริง ไม่สรุประดับ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40 วินาที</a:t>
            </a:r>
          </a:p>
          <a:p xmlns:a="http://schemas.openxmlformats.org/drawingml/2006/main">
            <a:r>
              <a:t>สรุปสิ่งที่พัฒนาได้จากหน้าจอจริง อภิปรายความสอดคล้องเชิงแนวคิดกับงานที่เกี่ยวข้อง โดยยังไม่กล่าวอ้างประสิทธิผลเชิงสถิติ ข้อเสนอเพื่อพัฒนาต่อ: เก็บผลทดสอบและประเมินจริง ปรับระบบจากข้อเสนอแนะ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5 วินาที</a:t>
            </a:r>
          </a:p>
          <a:p xmlns:a="http://schemas.openxmlformats.org/drawingml/2006/main">
            <a:r>
              <a:t>ขอบคุณและรับคำถาม ไม่รวมเวลาตอบคำถามในเวลานำเสนอ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3438ea27149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586f91f05541c5" /><Relationship Type="http://schemas.openxmlformats.org/officeDocument/2006/relationships/slideLayout" Target="/ppt/slideLayouts/slideLayout1.xml" Id="Rdac31d711a5148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c31d711a5148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f7b2f5fb14e25" /><Relationship Type="http://schemas.openxmlformats.org/officeDocument/2006/relationships/image" Target="/ppt/media/image.jpeg" Id="R66ea9b71057f4a31" /><Relationship Type="http://schemas.openxmlformats.org/officeDocument/2006/relationships/image" Target="/ppt/media/image.png" Id="R3eaedee089fb4d2a" /><Relationship Type="http://schemas.openxmlformats.org/officeDocument/2006/relationships/image" Target="/ppt/media/image2.png" Id="R0aeeb55acd9c4c52" /><Relationship Type="http://schemas.openxmlformats.org/officeDocument/2006/relationships/notesSlide" Target="/ppt/notesSlides/notesSlide1.xml" Id="R5b8240c163d647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7be35ff954b2c" /><Relationship Type="http://schemas.openxmlformats.org/officeDocument/2006/relationships/image" Target="/ppt/media/image2.jpeg" Id="R0004643d1f044937" /><Relationship Type="http://schemas.openxmlformats.org/officeDocument/2006/relationships/image" Target="/ppt/media/image3.jpeg" Id="R2ee57742e616436c" /><Relationship Type="http://schemas.openxmlformats.org/officeDocument/2006/relationships/image" Target="/ppt/media/image4.jpeg" Id="R6f10bea20afc4402" /><Relationship Type="http://schemas.openxmlformats.org/officeDocument/2006/relationships/image" Target="/ppt/media/image5.jpeg" Id="R79a609705df44dd8" /><Relationship Type="http://schemas.openxmlformats.org/officeDocument/2006/relationships/image" Target="/ppt/media/image3.png" Id="R09016cf0f96c4eef" /><Relationship Type="http://schemas.openxmlformats.org/officeDocument/2006/relationships/image" Target="/ppt/media/image4.png" Id="Rcc81cdd4fe6044fe" /><Relationship Type="http://schemas.openxmlformats.org/officeDocument/2006/relationships/notesSlide" Target="/ppt/notesSlides/notesSlide2.xml" Id="Re599149abad449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30084ec964074" /><Relationship Type="http://schemas.openxmlformats.org/officeDocument/2006/relationships/image" Target="/ppt/media/image6.jpeg" Id="Rb7719b7a534c4aef" /><Relationship Type="http://schemas.openxmlformats.org/officeDocument/2006/relationships/image" Target="/ppt/media/image5.png" Id="R4f457602c7c04ed2" /><Relationship Type="http://schemas.openxmlformats.org/officeDocument/2006/relationships/image" Target="/ppt/media/image6.png" Id="Rc6aa152fdd084185" /><Relationship Type="http://schemas.openxmlformats.org/officeDocument/2006/relationships/notesSlide" Target="/ppt/notesSlides/notesSlide3.xml" Id="R35e7833e43e847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3217187d84d4b" /><Relationship Type="http://schemas.openxmlformats.org/officeDocument/2006/relationships/image" Target="/ppt/media/image7.png" Id="Rec9dd9a91e064d7e" /><Relationship Type="http://schemas.openxmlformats.org/officeDocument/2006/relationships/image" Target="/ppt/media/image8.png" Id="R5d1acb8f3c4c42fe" /><Relationship Type="http://schemas.openxmlformats.org/officeDocument/2006/relationships/image" Target="/ppt/media/image9.png" Id="R23537699dbd946c3" /><Relationship Type="http://schemas.openxmlformats.org/officeDocument/2006/relationships/notesSlide" Target="/ppt/notesSlides/notesSlide4.xml" Id="Rfb74267ec74d41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fd0f958fc44b7" /><Relationship Type="http://schemas.openxmlformats.org/officeDocument/2006/relationships/image" Target="/ppt/media/image10.png" Id="Rc3286602cc764832" /><Relationship Type="http://schemas.openxmlformats.org/officeDocument/2006/relationships/image" Target="/ppt/media/image11.png" Id="Rdcbd49f2d75c428a" /><Relationship Type="http://schemas.openxmlformats.org/officeDocument/2006/relationships/notesSlide" Target="/ppt/notesSlides/notesSlide5.xml" Id="Rc54936f28f604b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b1a783ddd4e75" /><Relationship Type="http://schemas.openxmlformats.org/officeDocument/2006/relationships/image" Target="/ppt/media/image12.png" Id="R22746362829646dc" /><Relationship Type="http://schemas.openxmlformats.org/officeDocument/2006/relationships/image" Target="/ppt/media/image13.png" Id="Rfe513d60c4c34fda" /><Relationship Type="http://schemas.openxmlformats.org/officeDocument/2006/relationships/notesSlide" Target="/ppt/notesSlides/notesSlide6.xml" Id="Rb5caad4f7b1c4a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0726caa484fd4" /><Relationship Type="http://schemas.openxmlformats.org/officeDocument/2006/relationships/image" Target="/ppt/media/image14.png" Id="R5b65374d546a4d36" /><Relationship Type="http://schemas.openxmlformats.org/officeDocument/2006/relationships/image" Target="/ppt/media/image15.png" Id="R4cacfb5c87cd43bf" /><Relationship Type="http://schemas.openxmlformats.org/officeDocument/2006/relationships/image" Target="/ppt/media/image16.png" Id="R483751dc6a2a42a0" /><Relationship Type="http://schemas.openxmlformats.org/officeDocument/2006/relationships/image" Target="/ppt/media/image17.png" Id="R089b78a5e9554040" /><Relationship Type="http://schemas.openxmlformats.org/officeDocument/2006/relationships/image" Target="/ppt/media/image18.png" Id="Ra798d9d97b8c47a0" /><Relationship Type="http://schemas.openxmlformats.org/officeDocument/2006/relationships/image" Target="/ppt/media/image19.png" Id="R575e24015d6d4a6c" /><Relationship Type="http://schemas.openxmlformats.org/officeDocument/2006/relationships/image" Target="/ppt/media/image20.png" Id="R6eb4c0696d5e4a4e" /><Relationship Type="http://schemas.openxmlformats.org/officeDocument/2006/relationships/image" Target="/ppt/media/image21.png" Id="R5108546a903c48bc" /><Relationship Type="http://schemas.openxmlformats.org/officeDocument/2006/relationships/image" Target="/ppt/media/image22.png" Id="R8790ac3955fc4c8e" /><Relationship Type="http://schemas.openxmlformats.org/officeDocument/2006/relationships/notesSlide" Target="/ppt/notesSlides/notesSlide7.xml" Id="R74e0f59780244c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f3a8dcfad4b86" /><Relationship Type="http://schemas.openxmlformats.org/officeDocument/2006/relationships/image" Target="/ppt/media/image23.png" Id="R38b0cfcc0aad4655" /><Relationship Type="http://schemas.openxmlformats.org/officeDocument/2006/relationships/image" Target="/ppt/media/image24.png" Id="R7119840af4a54e17" /><Relationship Type="http://schemas.openxmlformats.org/officeDocument/2006/relationships/notesSlide" Target="/ppt/notesSlides/notesSlide8.xml" Id="Ra0f771cde9da4d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697dcbe8443a9" /><Relationship Type="http://schemas.openxmlformats.org/officeDocument/2006/relationships/image" Target="/ppt/media/image25.png" Id="R047b44f7852a49f8" /><Relationship Type="http://schemas.openxmlformats.org/officeDocument/2006/relationships/image" Target="/ppt/media/image26.png" Id="Re4153e1caee64781" /><Relationship Type="http://schemas.openxmlformats.org/officeDocument/2006/relationships/notesSlide" Target="/ppt/notesSlides/notesSlide9.xml" Id="Rc878afb3842747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1e8c73cb845a4" /><Relationship Type="http://schemas.openxmlformats.org/officeDocument/2006/relationships/image" Target="/ppt/media/image27.png" Id="R657fcff30a7f4dd8" /><Relationship Type="http://schemas.openxmlformats.org/officeDocument/2006/relationships/image" Target="/ppt/media/image28.png" Id="R091b8f53af604f69" /><Relationship Type="http://schemas.openxmlformats.org/officeDocument/2006/relationships/image" Target="/ppt/media/image29.png" Id="R1915384f652c442a" /><Relationship Type="http://schemas.openxmlformats.org/officeDocument/2006/relationships/notesSlide" Target="/ppt/notesSlides/notesSlide10.xml" Id="R28f3077c31b840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35ad3e7904c29" /><Relationship Type="http://schemas.openxmlformats.org/officeDocument/2006/relationships/image" Target="/ppt/media/image7.jpeg" Id="Rf3cec58fe15f401d" /><Relationship Type="http://schemas.openxmlformats.org/officeDocument/2006/relationships/image" Target="/ppt/media/image30.png" Id="Rbc67a4f255f643f8" /><Relationship Type="http://schemas.openxmlformats.org/officeDocument/2006/relationships/image" Target="/ppt/media/image31.png" Id="Ref6c54d251684e6e" /><Relationship Type="http://schemas.openxmlformats.org/officeDocument/2006/relationships/notesSlide" Target="/ppt/notesSlides/notesSlide11.xml" Id="Rd3556412153d41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a2bb576cb45d2" /><Relationship Type="http://schemas.openxmlformats.org/officeDocument/2006/relationships/image" Target="/ppt/media/image32.png" Id="R0c603b02e9b44e21" /><Relationship Type="http://schemas.openxmlformats.org/officeDocument/2006/relationships/image" Target="/ppt/media/image33.png" Id="R279c003efa974a57" /><Relationship Type="http://schemas.openxmlformats.org/officeDocument/2006/relationships/image" Target="/ppt/media/image34.png" Id="Rf8989a8955d74703" /><Relationship Type="http://schemas.openxmlformats.org/officeDocument/2006/relationships/image" Target="/ppt/media/image35.png" Id="R09b46e03bea04757" /><Relationship Type="http://schemas.openxmlformats.org/officeDocument/2006/relationships/notesSlide" Target="/ppt/notesSlides/notesSlide12.xml" Id="R9091c33ba4594f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250cee6544ab4" /><Relationship Type="http://schemas.openxmlformats.org/officeDocument/2006/relationships/image" Target="/ppt/media/image8.jpeg" Id="Rf20ba48a564242da" /><Relationship Type="http://schemas.openxmlformats.org/officeDocument/2006/relationships/image" Target="/ppt/media/image36.png" Id="R66c37dbe47624967" /><Relationship Type="http://schemas.openxmlformats.org/officeDocument/2006/relationships/image" Target="/ppt/media/image37.png" Id="R58c1ca21648e4e49" /><Relationship Type="http://schemas.openxmlformats.org/officeDocument/2006/relationships/notesSlide" Target="/ppt/notesSlides/notesSlide13.xml" Id="R6755cf281c2641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8231f42fa4087" /><Relationship Type="http://schemas.openxmlformats.org/officeDocument/2006/relationships/image" Target="/ppt/media/image38.png" Id="Rcd7483888f214d3d" /><Relationship Type="http://schemas.openxmlformats.org/officeDocument/2006/relationships/image" Target="/ppt/media/image39.png" Id="R7191c3da30ea475a" /><Relationship Type="http://schemas.openxmlformats.org/officeDocument/2006/relationships/image" Target="/ppt/media/image40.png" Id="Rdddf14b33d864121" /><Relationship Type="http://schemas.openxmlformats.org/officeDocument/2006/relationships/notesSlide" Target="/ppt/notesSlides/notesSlide14.xml" Id="Re86c3b3a71c145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639b8ed3747c5" /><Relationship Type="http://schemas.openxmlformats.org/officeDocument/2006/relationships/image" Target="/ppt/media/image41.png" Id="R9e0a6cb6c22f4533" /><Relationship Type="http://schemas.openxmlformats.org/officeDocument/2006/relationships/image" Target="/ppt/media/image42.png" Id="Rbf02134608a04d57" /><Relationship Type="http://schemas.openxmlformats.org/officeDocument/2006/relationships/image" Target="/ppt/media/image43.png" Id="Re1c7760f1cb34147" /><Relationship Type="http://schemas.openxmlformats.org/officeDocument/2006/relationships/notesSlide" Target="/ppt/notesSlides/notesSlide15.xml" Id="Rfce9ac5b78cf49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784ea6e9a42a9" /><Relationship Type="http://schemas.openxmlformats.org/officeDocument/2006/relationships/image" Target="/ppt/media/image9.jpeg" Id="R43b430970e4f4d5c" /><Relationship Type="http://schemas.openxmlformats.org/officeDocument/2006/relationships/image" Target="/ppt/media/image44.png" Id="R11f8e5cd6b3544f4" /><Relationship Type="http://schemas.openxmlformats.org/officeDocument/2006/relationships/image" Target="/ppt/media/image45.png" Id="Rc04df2a91e49414c" /><Relationship Type="http://schemas.openxmlformats.org/officeDocument/2006/relationships/notesSlide" Target="/ppt/notesSlides/notesSlide16.xml" Id="Ra649fde52b2e4c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70c553f3b49eb" /><Relationship Type="http://schemas.openxmlformats.org/officeDocument/2006/relationships/image" Target="/ppt/media/image46.png" Id="Rb668393eed0849a6" /><Relationship Type="http://schemas.openxmlformats.org/officeDocument/2006/relationships/image" Target="/ppt/media/image47.png" Id="Ra4e653165c7e472b" /><Relationship Type="http://schemas.openxmlformats.org/officeDocument/2006/relationships/notesSlide" Target="/ppt/notesSlides/notesSlide17.xml" Id="R1c2320ee481c42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1824746d34af4" /><Relationship Type="http://schemas.openxmlformats.org/officeDocument/2006/relationships/image" Target="/ppt/media/image48.png" Id="R0ab6efbdfb014a12" /><Relationship Type="http://schemas.openxmlformats.org/officeDocument/2006/relationships/image" Target="/ppt/media/image49.png" Id="Ra22e52d7401d43c4" /><Relationship Type="http://schemas.openxmlformats.org/officeDocument/2006/relationships/notesSlide" Target="/ppt/notesSlides/notesSlide18.xml" Id="R8726ff5f41a44d9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6defcd8ad42e2" /><Relationship Type="http://schemas.openxmlformats.org/officeDocument/2006/relationships/image" Target="/ppt/media/image50.png" Id="R6f120265aa0c47ff" /><Relationship Type="http://schemas.openxmlformats.org/officeDocument/2006/relationships/image" Target="/ppt/media/image51.png" Id="R44922131deb74436" /><Relationship Type="http://schemas.openxmlformats.org/officeDocument/2006/relationships/notesSlide" Target="/ppt/notesSlides/notesSlide19.xml" Id="R1beaad1010ca4f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335e819eb403e" /><Relationship Type="http://schemas.openxmlformats.org/officeDocument/2006/relationships/image" Target="/ppt/media/image52.png" Id="R4541239114ca458d" /><Relationship Type="http://schemas.openxmlformats.org/officeDocument/2006/relationships/image" Target="/ppt/media/image53.png" Id="R0ff4495075834628" /><Relationship Type="http://schemas.openxmlformats.org/officeDocument/2006/relationships/notesSlide" Target="/ppt/notesSlides/notesSlide20.xml" Id="Rb9a9780375c342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747E7-22A9-4078-9DEF-6B0CA583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AF8E0-601C-4CB6-AD41-B85066AB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90DFF-3466-4911-AAA9-C23C2DC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33813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โครงงานทางเทคโนโลยีสารสนเทศ 2 | มหาวิทยาลัยราชภัฏยะลา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E75AC-FB20-4F2D-AB5D-4E89FDE3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 / 20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a9b71057f4a31"/>
          <a:srcRect xmlns:a="http://schemas.openxmlformats.org/drawingml/2006/main" l="23808" t="0" r="238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7650" y="0"/>
            <a:ext cx="4324350" cy="619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CA13F-C6B9-46A8-AE9F-EB61F1B6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86765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EABD5-6559-4B4B-A888-B8386A82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704975"/>
            <a:ext cx="3514725" cy="723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ระบบสารสนเทศ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29826-F542-4A31-94DD-8D7B1C01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419350"/>
            <a:ext cx="4067175" cy="723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การบริหารงานวินัย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6787B-0263-4FC9-B9FF-91EE595C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133725"/>
            <a:ext cx="6324600" cy="723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และติดตามพฤติกรรมนักเรียน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FF175-146A-4715-8D98-8831FE95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105275"/>
            <a:ext cx="41910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กรณีศึกษา: โรงเรียนศิริราษฎร์สามัคคี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31139-CB0B-4CA5-945C-E8A8432F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533900"/>
            <a:ext cx="172402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จังหวัดปัตตานี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38368-4161-435D-B2B7-9F0F95DC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2482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D9C5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B13D8-7487-4C90-9AE2-656DA1A3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486400"/>
            <a:ext cx="2771775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ตอริก ลือแมะ / บุสริน มูซอ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F7204-5565-4883-A702-BEC58CFF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924550"/>
            <a:ext cx="714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ที่ปรึกษา: อ.แพรวศรี เดิมราช / อ.รุสนี กาแมแล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edee089fb4d2a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eb55acd9c4c52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089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64162-973B-436A-BCDB-35389AB6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0D72C-EAAB-421A-8506-71F67EE4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6575" y="285750"/>
            <a:ext cx="9620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คณะผู้จัดทำ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D64BD-C76E-483E-A816-0B908EB3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484822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ผู้วิจัยและอาจารย์ที่ปรึกษา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75F63-674C-4053-9A62-6A1E8C63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2F29B-624C-42C0-97AA-57BE60BD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8956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ผู้วิจัย: PDF หน้า 205-206 | รูปที่ปรึกษา: YRU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9B2FF-E50C-4D6F-978C-1325AEAA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 /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7AC57-3B57-4465-9E77-9D0F8A45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428750"/>
            <a:ext cx="7239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ผู้วิจัย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100E0-B53F-4710-92BD-AD6ECBE1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1428750"/>
            <a:ext cx="1781175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อาจารย์ที่ปรึกษา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4643d1f044937"/>
          <a:srcRect xmlns:a="http://schemas.openxmlformats.org/drawingml/2006/main" l="0" t="1858" r="0" b="1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76425"/>
            <a:ext cx="2409825" cy="2971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A2D64-8819-475C-B5DE-6AE54F5D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048250"/>
            <a:ext cx="1933575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นายตอริก ลือแมะ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000EE-1B37-4FEB-B4B9-BAB3A76E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476875"/>
            <a:ext cx="1114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406665012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57742e616436c"/>
          <a:srcRect xmlns:a="http://schemas.openxmlformats.org/drawingml/2006/main" l="0" t="1926" r="0" b="19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62325" y="1876425"/>
            <a:ext cx="2409825" cy="2971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52F8D-C02A-4E16-82EC-601E4432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5048250"/>
            <a:ext cx="17145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นายบุสริน มูซอ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53F45-8DDF-44F4-AADB-411EB1BC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5476875"/>
            <a:ext cx="1114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406665027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0bea20afc4402"/>
          <a:srcRect xmlns:a="http://schemas.openxmlformats.org/drawingml/2006/main" l="9455" t="0" r="9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876425"/>
            <a:ext cx="2409825" cy="2971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3E3F0-13D4-4266-BD36-4FFB04E3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5048250"/>
            <a:ext cx="2124075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อ.แพรวศรี เดิมราช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9ACAE-C636-4755-98CF-64508C7E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5476875"/>
            <a:ext cx="147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อาจารย์ที่ปรึกษา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609705df44dd8"/>
          <a:srcRect xmlns:a="http://schemas.openxmlformats.org/drawingml/2006/main" l="0" t="1118" r="0" b="11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8775" y="1876425"/>
            <a:ext cx="2409825" cy="29718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B2F82-E445-4649-B9A3-FF994646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5048250"/>
            <a:ext cx="17335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อ.รุสนี กาแมแล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485AA-8EA5-4E8B-B2EA-12149977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5476875"/>
            <a:ext cx="147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อาจารย์ที่ปรึกษา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98209-DD86-4C17-9041-02B9E6A2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1762125"/>
            <a:ext cx="0" cy="404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16cf0f96c4eef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1cdd4fe6044fe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64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EE174-6F74-4BFA-A47E-824C1F7F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AEA59-CCAD-4A68-A2AB-39F5C545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6625" y="285750"/>
            <a:ext cx="56197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บทนำ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6D169-7863-424B-9FC1-39E86A74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41529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ความเป็นมาและปัญหา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F5B30-DCEB-4A34-8A1F-01D76762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27223-D572-494E-9813-1A168722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19050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16-17, 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2929B-0CD5-4F44-8A64-63B7855E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 / 20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19b7a534c4aef"/>
          <a:srcRect xmlns:a="http://schemas.openxmlformats.org/drawingml/2006/main" l="3767" t="0" r="37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19250"/>
            <a:ext cx="5143500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FA6DC-C4F2-454C-885F-5A3B889B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176212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E733F-5E43-4E7D-A599-58472B3F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1762125"/>
            <a:ext cx="2867025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ข้อมูลกระจัดกระจาย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C204C-36E3-4B1E-9168-C2344941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2295525"/>
            <a:ext cx="2105025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จดบันทึกลงกระดาษ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0BD00-C5F1-4F83-AA33-6EB7A7ED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313372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98F6C-2614-48D1-8F7D-EBE1FC9E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3133725"/>
            <a:ext cx="3152775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สืบค้นและสรุปผลล่าช้า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432C4-D987-44A4-AFFE-B02AB0E5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3667125"/>
            <a:ext cx="2867025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รวบรวมข้อมูลจากหลายแฟ้ม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7936B-3638-47ED-9865-590070D9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450532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AFEA7-6889-4786-951E-66C0A6CF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4505325"/>
            <a:ext cx="3648075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ติดตามกิจกรรมได้ไม่ทั่วถึง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FBAE8-6D7E-4915-A359-716B3D32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5038725"/>
            <a:ext cx="27813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ขาดหลักฐานที่ตรวจสอบได้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57602c7c04ed2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a152fdd084185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70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75AF7-D086-471D-8FAD-A2177C86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09864-8B29-4A7F-A877-CC7D8381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285750"/>
            <a:ext cx="11430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วิเคราะห์ปัญหา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2F30A-9BAF-4E79-A84E-7D62FDC9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296227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แผนผังก้างปลา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133BA-4FFA-4A6D-B803-BCFDC4B5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9CAD3-44FC-489F-ADBA-8F6FDA30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6574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แผนภาพประกอบโครงงานระบบวินัยนักเรียน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3CBFC-E22A-419F-922A-AEA68981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04 /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AA816-DA6C-4F38-98B1-34CE2B2A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1676400"/>
            <a:ext cx="11430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dd9a91e064d7e"/>
          <a:stretch xmlns:a="http://schemas.openxmlformats.org/drawingml/2006/main"/>
        </p:blipFill>
        <p:spPr>
          <a:xfrm xmlns:a="http://schemas.openxmlformats.org/drawingml/2006/main">
            <a:off x="846351" y="1828800"/>
            <a:ext cx="10499298" cy="40957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acb8f3c4c42fe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37699dbd946c3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20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0FFF66-A11C-43F6-8C00-F25EBAB7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28FE2-CAE5-4121-BD4D-7C04EBDE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1850" y="285750"/>
            <a:ext cx="6667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การวิจัย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2C820-F84B-41D2-9F51-E203CBF9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23622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วัตถุประสงค์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AD517-40AD-488F-AE90-B58FCD8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B59EF-2CF8-439E-AECB-FC1BE288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15144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562AC-BFE1-4222-9163-4225A5B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05 /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625DF-88F7-48A4-97B4-FCE3C02D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819275"/>
            <a:ext cx="819150" cy="915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C3875-0C4D-4853-A897-7E26D59C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1847850"/>
            <a:ext cx="549592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วิเคราะห์ ออกแบบ และพัฒนาระบบ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4C4A3-47B7-4C96-B92C-D9876ECA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2457450"/>
            <a:ext cx="47434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บริหารงานวินัยและติดตามพฤติกรรมนักเรียน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E6CF3-1F59-48C6-B634-C24DE61E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2952750"/>
            <a:ext cx="9210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82184-EEAA-4C9A-A789-32FB6B6A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190875"/>
            <a:ext cx="819150" cy="915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FBD11-77B2-4462-8A81-13C30C07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3219450"/>
            <a:ext cx="34290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ประเมินคุณภาพระบบ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26F4B-78E6-47E9-9405-08F82284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829050"/>
            <a:ext cx="179070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โดยผู้เชี่ยวชาญ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68E6C-12A1-4FE9-9F6C-9C281FB2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4324350"/>
            <a:ext cx="9210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93F3C-B13E-4EA0-A708-F3BB9B57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562475"/>
            <a:ext cx="819150" cy="915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E9055-50A1-4202-82C9-98664746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4591050"/>
            <a:ext cx="34861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ประเมินความพึงพอใจ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D6029-11F7-44EB-BC4E-96A65F6A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5200650"/>
            <a:ext cx="20097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ของผู้ใช้งานระบบ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86602cc764832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d49f2d75c428a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769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EDDBA0-85BB-403E-B424-E2B6066A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A30FA-23FF-4669-A7C9-59AEB911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9450" y="285750"/>
            <a:ext cx="8191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5 บทบาท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D66CE-2BE8-4F9D-A753-A6D60419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11252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ขอบเขตและกลุ่มตัวอย่าง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94474-2FBE-481A-A254-5DB768AB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C0E21-C46C-4F85-A544-93CC2DAD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100965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18-19, 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A2A08-29F0-4E63-B4BA-2E71B7CF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06 /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E3F04-CAC1-4EE7-B470-CACF2CBF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59067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CD9DA-B671-4189-A3D3-675150D8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1609725"/>
            <a:ext cx="16097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ผู้ดูแลระบบ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0CB19-67E1-4083-8390-A1B1CC37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1657350"/>
            <a:ext cx="1647825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ข้อมูลและสิทธิ์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FF0B0-3C7B-42A7-98A8-4A710914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2238375"/>
            <a:ext cx="916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25533-0354-4C52-AE59-48588233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438400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B2DBE-B26A-42E3-95BD-366B4DB7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2457450"/>
            <a:ext cx="17907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ฝ่ายปกครอง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0F5AD-686D-40E6-8E6F-CE2BCE58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2505075"/>
            <a:ext cx="23241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พฤติกรรมและรายงาน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32BEF-1336-4AA1-B4D5-854B2DC0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3086100"/>
            <a:ext cx="916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365BC-BBBC-4098-9714-4FF4C84F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28612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7D8F6-F8EB-484B-B33C-2D553189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3305175"/>
            <a:ext cx="173355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ครูประจำชั้น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FA1CC-8A57-43F6-A410-46645733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352800"/>
            <a:ext cx="18859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เช็กชื่อและบันทึก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D736C-0B15-4C70-A372-E09F4611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3933825"/>
            <a:ext cx="916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177CB-6660-48FC-A960-22C0226B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133850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A1B24-C689-41A4-8383-56C86E7D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4152900"/>
            <a:ext cx="11811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นักเรียน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E314A-3C3F-4879-9F12-B011811F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200525"/>
            <a:ext cx="20002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ประวัติและอุทธรณ์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A8EEFF-EBC9-4AC4-A148-7DF77DAB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4781550"/>
            <a:ext cx="916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D3BD30-42D5-4D78-97A4-6C26EEDE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98157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9E98E-7ABD-4BA7-B4C9-5E029BCF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5000625"/>
            <a:ext cx="14478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ผู้ปกครอง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9654E-1C57-452A-82B8-AF0C2D04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5048250"/>
            <a:ext cx="1905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ติดตามบุตรหลาน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30420-6615-4E9C-AE2B-0EDB0719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629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กลุ่มตัวอย่าง 30 คน • เลือกแบบเจาะจง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0C1EC6-5216-4924-B0E0-BDE3DC07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953125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นักเรียน 12 • ผู้ปกครอง 12 • ครู 3 • ฝ่ายปกครอง 3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46362829646dc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13d60c4c34fda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132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4F4A3E-F6D6-42B5-9BD7-5367E9C9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287BB-F49F-4B6D-ADC4-6190A4A7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2225" y="285750"/>
            <a:ext cx="147637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ซอฟต์แวร์และภาษา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176B2-1D95-466B-891F-57C66B02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11252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แนวคิดและเครื่องมือ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FE2ED-6C5E-4E8C-9B4B-B8B54026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4F596-7179-4C51-8A15-0DD5A064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34956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4, 20-21 | โลโก้: ไฟล์ต้นฉบับในโครงงาน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5CAEF-5151-403A-A322-F254DC16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07 / 20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5374d546a4d36"/>
          <a:stretch xmlns:a="http://schemas.openxmlformats.org/drawingml/2006/main"/>
        </p:blipFill>
        <p:spPr>
          <a:xfrm xmlns:a="http://schemas.openxmlformats.org/drawingml/2006/main">
            <a:off x="1643063" y="1666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8E98B-7212-4BA4-B7AD-6BFB2339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2838450"/>
            <a:ext cx="127635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VS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ABF8D-A672-4CE6-8D8C-2A00DEDE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257550"/>
            <a:ext cx="139065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เขียนโปรแกรม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cfb5c87cd43bf"/>
          <a:stretch xmlns:a="http://schemas.openxmlformats.org/drawingml/2006/main"/>
        </p:blipFill>
        <p:spPr>
          <a:xfrm xmlns:a="http://schemas.openxmlformats.org/drawingml/2006/main">
            <a:off x="5586413" y="1666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960EF-B835-4853-8424-357917B2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8788" y="2838450"/>
            <a:ext cx="10953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MySQL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1B54A-19EB-467D-92CC-D984722D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6888" y="3257550"/>
            <a:ext cx="1019175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ฐานข้อมูล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751dc6a2a42a0"/>
          <a:stretch xmlns:a="http://schemas.openxmlformats.org/drawingml/2006/main"/>
        </p:blipFill>
        <p:spPr>
          <a:xfrm xmlns:a="http://schemas.openxmlformats.org/drawingml/2006/main">
            <a:off x="9529763" y="1666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11D0E-D68D-4D4F-8F8E-B9F18653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2638" y="2838450"/>
            <a:ext cx="7143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PHP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AAE37-8DE6-4C49-B648-D6D7506C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3257550"/>
            <a:ext cx="15621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ประมวลผลระบบ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BD021-DEC0-4B7A-8983-3C0553DB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7909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b78a5e9554040"/>
          <a:stretch xmlns:a="http://schemas.openxmlformats.org/drawingml/2006/main"/>
        </p:blipFill>
        <p:spPr>
          <a:xfrm xmlns:a="http://schemas.openxmlformats.org/drawingml/2006/main">
            <a:off x="1447800" y="417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701B0-F9A8-462B-83D7-B88089F8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563" y="5295900"/>
            <a:ext cx="9048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HTML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8d9d97b8c47a0"/>
          <a:stretch xmlns:a="http://schemas.openxmlformats.org/drawingml/2006/main"/>
        </p:blipFill>
        <p:spPr>
          <a:xfrm xmlns:a="http://schemas.openxmlformats.org/drawingml/2006/main">
            <a:off x="4238625" y="417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8F7FD-5F85-4443-9561-9281DDF8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5295900"/>
            <a:ext cx="6667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CSS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e24015d6d4a6c"/>
          <a:stretch xmlns:a="http://schemas.openxmlformats.org/drawingml/2006/main"/>
        </p:blipFill>
        <p:spPr>
          <a:xfrm xmlns:a="http://schemas.openxmlformats.org/drawingml/2006/main">
            <a:off x="7029450" y="417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06F5F-0720-4727-B4E5-2745690A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9413" y="5295900"/>
            <a:ext cx="15144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JavaScript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4c0696d5e4a4e"/>
          <a:stretch xmlns:a="http://schemas.openxmlformats.org/drawingml/2006/main"/>
        </p:blipFill>
        <p:spPr>
          <a:xfrm xmlns:a="http://schemas.openxmlformats.org/drawingml/2006/main">
            <a:off x="9820275" y="417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AA8EDC-56A7-4382-89E0-C476582A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5038" y="5295900"/>
            <a:ext cx="9048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React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005A99-B077-4D91-94BC-2893686C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79120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SDLC • ฐานข้อมูล • การแบ่งสิทธิ์ • การประเมินระบบ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8546a903c48bc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0ac3955fc4c8e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7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FDD5E4B-1FA6-44AB-B213-DC60CA13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AC550-E59C-48F1-B303-1DF1B3CD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ขั้นตอนดำเนินงานตาม SDLC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DAA82-0AF1-4D4F-B1AF-226E1953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7 ขั้นตอนเพื่อพัฒนาระบบวินัยและติดตามพฤติกรรมนักเรียน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1F382-9F70-4D8B-AAC7-0095E17A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7049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BC206-A495-460E-9809-6FEE68C0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028825"/>
            <a:ext cx="3657600" cy="3657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C8A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936F0-848B-47D1-88D7-DA5A3D29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9CB55-71D5-4745-AB94-5624EBAE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18192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2C168-E8A0-452B-B604-25BECBE1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575" y="24860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ปัญหา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98344-8FFE-4EE1-AD69-253F7553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42857">
            <a:off x="3574787" y="214325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D824B-3AC4-4982-BE57-2A25C824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1088" y="246021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EF93D-EB4E-48C6-91F9-15E9D8BC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1088" y="250783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5B3E8-5216-4E84-9E6B-5E007265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2102" y="2923549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ความเป็นไปได้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A1980-4FDD-4CE0-8913-3E01E029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28571">
            <a:off x="4564248" y="3384004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D6FF9-2F22-4FA5-A238-6346118D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223" y="4007396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E1786-B7A7-4E88-818B-57642A06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223" y="4055021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C4AC0-0FFE-4618-8FF9-19B57F95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6490" y="390665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วิเคราะห์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8FEDF-CAF5-4464-8CB1-A08F040A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114286">
            <a:off x="4211113" y="493118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DC9A1-CCA8-4FE4-9284-E2CE8727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4762" y="524814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1F163C-9900-4C98-9160-C3E14A7E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4762" y="529576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AEEEA-28C5-4498-AE10-D7FD7AF8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7770" y="4695046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ออกแบบ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7E38C0-C170-43EE-8765-ACFF9992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781300" y="56197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90FFE-07BA-4E0E-B82C-39812641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788" y="524814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B9806D-ED07-49F5-8455-BC4F316A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788" y="529576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2A1141-33C9-477A-948B-8C5558B8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80" y="4695046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พัฒนา</a:t>
            </a:r>
          </a:p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และทดสอบ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B720F-5D0E-4F79-8ED6-9FAA67F6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85714">
            <a:off x="1351487" y="493118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EEAAAA-A37E-4DEF-ACED-CB8074E9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327" y="4007396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3A98CB-04EA-422F-B1EF-323CCF48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327" y="4055021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51FA0E-C01F-47EC-8469-DEA6BBC5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660" y="390665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ติดตั้ง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D75277-4B4F-45D9-92D7-8D79413E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371429">
            <a:off x="998352" y="3384004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F0323B-490B-46D4-9D0B-D6D508E3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462" y="246021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BE7FCB-0CEF-423E-A64D-02B5B856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462" y="250783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9C60D2-8E3D-40E0-BC5D-0581CFD7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48" y="2923549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บำรุงรักษา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055FCB-E6AC-41AF-A1E8-BAB18B5B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457143">
            <a:off x="1987813" y="214325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66A6B7-70B5-4055-AB1B-0D7960D1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33623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143F38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143F38"/>
                </a:solidFill>
                <a:latin typeface="Arial"/>
                <a:ea typeface="Arial"/>
                <a:cs typeface="Arial"/>
              </a:rPr>
              <a:t>SDLC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E2FE0C-7057-44A1-AB28-AE299917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0290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ระบบวินัยนักเรียน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504025-9444-42F8-9141-A85C02F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8864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พัฒนาและปรับปรุงอย่างต่อเนื่อง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814E3C-D716-4C36-9A9E-35B64F2F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1952625"/>
            <a:ext cx="0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819B85-58AD-4C50-B214-2AD6B1B0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19240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DB32AB-6094-453B-B069-31F3CA7C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19145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ค้นหาปัญหา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22CA51-86D9-40E3-BF2F-3C39AD80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2193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วิเคราะห์การบันทึกกระดาษและติดตามพฤติกรรม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3A8760-F540-4330-B33F-EDBD973C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25146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6EA576-5053-4070-B4DE-C767CE39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5050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ศึกษาความเป็นไปได้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37BD62-0822-4226-841C-4625354E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8098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พิจารณาเครื่องมือ บุคลากร งบประมาณ และเวลา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5757EB-620B-4309-91A1-4A69A43E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31051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3C1611-4BCC-435A-8072-3D1E4309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0956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วิเคราะห์ระบบ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F5E394-736F-45CC-9C42-97AB4B3E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4004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สัมภาษณ์ผู้ใช้ • กำหนดงานและสิทธิ์ 5 บทบาท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B50594-A100-4CB5-9799-5DBF4A1D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36957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9101D6-3999-476E-BC0B-42F18AFE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6861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ออกแบบระบบ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18E76F-81F6-4608-891F-D805A211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9909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DFD • ER Diagram • ฐานข้อมูล • หน้าจอ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231300-BC21-4C9B-87C0-39CAB34F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42862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F9A453-448E-4A7F-B129-B5AFB6B6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2767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พัฒนาและทดสอบ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1339EC-E021-4145-86A9-6D9ED3DC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5815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PHP/MySQL • ทดสอบคะแนน สิทธิ์ และอุทธรณ์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EB53AD-0ED6-4A64-A7FA-BFF893F5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48768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760C8E-E2D8-4EF3-B435-F4EABD05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8672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ติดตั้งระบบ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B4E73B-3681-4892-AAE1-1E0762ED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1720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ทดลองใช้ด้วย XAMPP และแม่ข่ายมหาวิทยาลัย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490AA6-5D1F-4084-BEB6-6713AD12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54673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655FB1-AEB6-4B83-B545-436CC045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4578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บำรุงรักษาระบบ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5A5929-8900-44DA-B1D2-EC658F36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7626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ใช้ผลประเมินและข้อเสนอแนะปรับปรุงระบบ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423C6E-3C4F-4D49-A28E-70F9B89C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D54E12-7C9D-4D01-ABFF-2F9D444F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24-25, 59-65, 102-104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81A2E4-2CFE-471B-91F7-483B937F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64103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08 / 20</a:t>
            </a:r>
          </a:p>
        </p:txBody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0cfcc0aad4655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9840af4a54e17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728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FCF60-EBED-4647-B2B9-A7527256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476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บทที่ 2 • แนวคิดที่นำมาใช้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57E80-F1EC-4537-B1EB-2292ACC7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งานวิจัยที่เกี่ยวข้อง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7EC7E-F930-49A2-8610-01DDE7C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F8738-11B9-426E-ABAC-9D506E91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51–54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88116-4934-4524-B466-31173D5B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64293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09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C542E-3CE7-4C76-831E-262DC46F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581150"/>
            <a:ext cx="895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B0398-A53F-4929-94B2-094C9AA8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158115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มธุริน ปิ่นทอง และคณะ (2566)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4215A-7A55-4643-8C01-D5EF6E41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2028825"/>
            <a:ext cx="986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ระบบสารสนเทศงานบริการนักเรียน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69454-BE30-432A-A562-D6871E07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2438400"/>
            <a:ext cx="986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นำมาใช้: SDLC และฐานข้อมูลสำหรับงานนักเรียน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F1907-492B-4DAB-8E8D-05B24FA4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29146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84C69-992F-4475-B238-7FBAE242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095625"/>
            <a:ext cx="895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13C4E-B74D-4ECB-ABBF-9536B9CE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3095625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วัฒนพล ชุมเพชร และคณะ (2561)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C5B15-7691-4808-920A-1F123A0B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3543300"/>
            <a:ext cx="986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ติดตามการเข้าเรียนผ่านระบบออนไลน์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E513A-266A-40FB-AF36-ADFC83D6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3952875"/>
            <a:ext cx="986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นำมาใช้: เช็กชื่อและให้ผู้ปกครองร่วมติดตาม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8E7A9-0552-4EB2-9A6B-D0C37FA7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4429125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F3CF4-5B60-456C-93B7-85657D03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610100"/>
            <a:ext cx="895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C30CF-91E2-4DEA-BBCD-6D7ED24E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461010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ภัชราภรณ์ พิมพา (2566)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C27EA-5FE7-4653-9730-DC8C7C12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5057775"/>
            <a:ext cx="986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ติดตามและวิเคราะห์นักเรียนกลุ่มเสี่ยง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C7DEF-1EF8-43F2-A0D7-30044606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5467350"/>
            <a:ext cx="986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นำมาใช้: สรุปพฤติกรรมและประวัติรายบุคคล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b44f7852a49f8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53e1caee64781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695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CB64A-7873-4350-8ED4-94CDDB7D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8E4FD-0FBD-4393-B9AA-4F260208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285750"/>
            <a:ext cx="11049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DFD LEVEL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02D6C-45FD-41AA-A50A-62985BCC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11252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การวิเคราะห์และออกแบบระบบ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E91EA-9867-46B0-AC9F-15F1A8D6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5223C-1BD1-4B28-BEA3-7305BB88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6574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แผนภาพประกอบโครงงานระบบวินัยนักเรียน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67AB0-374B-4B81-A029-BBA6AA45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10 /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51A46-402F-4606-BFDF-C99015B4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352550"/>
            <a:ext cx="1165860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fcff30a7f4dd8"/>
          <a:stretch xmlns:a="http://schemas.openxmlformats.org/drawingml/2006/main"/>
        </p:blipFill>
        <p:spPr>
          <a:xfrm xmlns:a="http://schemas.openxmlformats.org/drawingml/2006/main">
            <a:off x="1230135" y="1438275"/>
            <a:ext cx="9731730" cy="46482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b8f53af604f69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5384f652c442a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6412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43AF8-E03D-494F-ABA9-632A4BD6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13D3A-BA27-4C68-82A3-2335CB1B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FEB0A-84D4-4F46-ABD8-958D9018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261937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ภาพรวมระบบ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B0DE9-E7C7-4F5A-86F4-3CE9EEA8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3A5B8-4B90-4AF5-8DE1-69C54B0C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144 ภาพที่ 4.16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339A5-4EE4-4D4C-8C59-399E2424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11 / 20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ec58fe15f401d"/>
          <a:stretch xmlns:a="http://schemas.openxmlformats.org/drawingml/2006/main"/>
        </p:blipFill>
        <p:spPr>
          <a:xfrm xmlns:a="http://schemas.openxmlformats.org/drawingml/2006/main">
            <a:off x="2192286" y="1581150"/>
            <a:ext cx="7807427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43212-C7B2-4A7A-91B3-D43EB443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11125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ฝ่ายปกครอง • ดูคะแนน พฤติกรรม และสถิติในหน้าเดียว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7a4f255f643f8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c54d251684e6e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587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51ADC-CD7D-4CC9-AE1F-BF867AED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D96A0-78EF-4D3D-A7A2-CED8A9A2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7C91F-5FB9-4D1D-BA95-A9F21BEA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45720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บันทึกพฤติกรรมนักเรียน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CEE08-9550-476F-87E5-5B55EBA6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08918-15ED-4236-A7F2-4C924119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48602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145 ภาพที่ 4.18-4.19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647F9-FAC7-4565-94E4-8CD9C90D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0099" y="6438900"/>
            <a:ext cx="628501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12 /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9CB99-F8AA-47B3-B607-3AF823FE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609725"/>
            <a:ext cx="21240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บันทึกพฤติกรรม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2AC1E-7BDA-48E0-8485-770ACF5E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457450"/>
            <a:ext cx="21621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ด้านบวก / ด้านลบ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69EA7-6A87-465F-AD45-57BF254A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162300"/>
            <a:ext cx="23622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อ้างอิงเกณฑ์คะแนน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6EEB2-F0BD-4F58-931E-AF1197D1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867150"/>
            <a:ext cx="252412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แนบหลักฐานประกอบ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03b02e9b44e21"/>
          <a:stretch xmlns:a="http://schemas.openxmlformats.org/drawingml/2006/main"/>
        </p:blipFill>
        <p:spPr>
          <a:xfrm xmlns:a="http://schemas.openxmlformats.org/drawingml/2006/main">
            <a:off x="4238625" y="1811338"/>
            <a:ext cx="3533775" cy="397827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c003efa974a57"/>
          <a:stretch xmlns:a="http://schemas.openxmlformats.org/drawingml/2006/main"/>
        </p:blipFill>
        <p:spPr>
          <a:xfrm xmlns:a="http://schemas.openxmlformats.org/drawingml/2006/main">
            <a:off x="8115300" y="2117853"/>
            <a:ext cx="3543300" cy="336524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D98DF-F199-4B40-ADF4-36E4813F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0196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ครู / ฝ่ายปกครอง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89a8955d74703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46e03bea04757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4214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99B3D-F17C-4F70-B37C-C3E6A376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EE943-6DE9-4568-9FA2-15A568AC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36772-B300-4D05-88C3-AA5CD906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367665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พิจารณาคำอุทธรณ์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90302-85CD-491C-9E1B-DA9FAD3F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A8D30-80CF-47C6-B8E4-D767051B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148 ภาพที่ 4.24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62CA0-662C-4FEF-9A8C-BCF5F59F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13 / 20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ba48a564242da"/>
          <a:stretch xmlns:a="http://schemas.openxmlformats.org/drawingml/2006/main"/>
        </p:blipFill>
        <p:spPr>
          <a:xfrm xmlns:a="http://schemas.openxmlformats.org/drawingml/2006/main">
            <a:off x="2203756" y="1581150"/>
            <a:ext cx="7784488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9DC2F-30BA-455A-B4BD-BB7A0866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4581525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ยื่นคำร้อง • ตรวจสอบหลักฐาน • ติดตามสถานะ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37dbe47624967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1ca21648e4e49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356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3D4C7-A09F-4072-80E1-F17001C2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99E6F-BAC8-4DF6-8745-C0C0DF8D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6AF6E-DD38-4ED7-B8EF-5F8E6745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279082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เช็กชื่อเข้าแถว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ECD0D-515F-4A5D-8FC7-3410AC80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1D9AB-5F81-4E0B-9BCB-06090A3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156 ภาพที่ 4.38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1AF74-CE91-4260-9794-15AB9EF8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14 / 20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483888f214d3d"/>
          <a:stretch xmlns:a="http://schemas.openxmlformats.org/drawingml/2006/main"/>
        </p:blipFill>
        <p:spPr>
          <a:xfrm xmlns:a="http://schemas.openxmlformats.org/drawingml/2006/main">
            <a:off x="2212790" y="1581150"/>
            <a:ext cx="7766421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7BED5-3A8A-4EFD-AF4C-DBF49C84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4562475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บันทึกการมาเรียน และตรวจสอบประวัติย้อนหลัง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1c3da30ea475a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f14b33d864121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397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188EA-3E74-4B61-AF6D-83BAC264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6FDCE-7051-43D7-BAB2-E74B4877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39489-3BFB-47B3-84D6-00508F3B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36576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ติดตามการละหมาด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960DE-78C1-4DEF-B0F1-3946CAA1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E88BE-9421-4E75-9B66-D3103102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152 ภาพที่ 4.33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A09DA-1239-47AB-8BC6-DE5F640C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15 / 20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a6cb6c22f4533"/>
          <a:stretch xmlns:a="http://schemas.openxmlformats.org/drawingml/2006/main"/>
        </p:blipFill>
        <p:spPr>
          <a:xfrm xmlns:a="http://schemas.openxmlformats.org/drawingml/2006/main">
            <a:off x="2188633" y="1581150"/>
            <a:ext cx="7814733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778EA-A76D-44C9-B2ED-9ABD7C5E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11125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ครูประจำชั้น • สรุปการร่วมกิจกรรมและตรวจสอบรายบุคคล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2134608a04d57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7760f1cb34147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34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6410A-4FB3-4321-A4DB-282471A9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C2D37-8718-4442-BA00-4965F5A6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1711E-CA35-4C0C-AC4A-37414DA8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507682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ผู้ปกครองติดตามบุตรหลาน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895C1-5E35-4CD2-8B7E-97097B82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01E7A-0CDD-406A-B2EF-B40DD239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165 ภาพที่ 4.55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FE444-C3BA-4546-8F40-0375AA55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430970e4f4d5c"/>
          <a:stretch xmlns:a="http://schemas.openxmlformats.org/drawingml/2006/main"/>
        </p:blipFill>
        <p:spPr>
          <a:xfrm xmlns:a="http://schemas.openxmlformats.org/drawingml/2006/main">
            <a:off x="2168719" y="1581150"/>
            <a:ext cx="7854561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6F01B-2C2D-4E2F-85E5-7539A1CB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40767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ดูประวัติพฤติกรรม และร่วมดูแลกับโรงเรียน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8e5cd6b3544f4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df2a91e49414c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275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418601-DB4B-44A1-88E3-A626EADE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476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บทที่ 4 • 6 ด้าน / 15 ข้อ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5587A-D9DD-4C48-A16A-DD06BF00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การทดสอบระบบ: Black 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05D0C-1A0F-4471-9F3B-2C9BD572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F70A3-4153-4F62-A028-709ADD71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แนวทางการนำเสนอ หน้า 2 • ผลทดสอบจริง: ยังไม่มี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7FC10-3916-44B5-AAF3-D7072163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64293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17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DA160-A420-4053-A167-B6879BAF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562100"/>
            <a:ext cx="752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BB9DA-60A5-48B7-BDE4-F89386DB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60020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6E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8F6EE"/>
                </a:solidFill>
                <a:latin typeface="Tahoma"/>
                <a:ea typeface="Tahoma"/>
                <a:cs typeface="Tahoma"/>
              </a:rPr>
              <a:t>กรณีทดสอบตามเกณฑ์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BB1D5-7729-42D8-9DC3-9FAB7071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6002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6E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8F6EE"/>
                </a:solidFill>
                <a:latin typeface="Tahoma"/>
                <a:ea typeface="Tahoma"/>
                <a:cs typeface="Tahoma"/>
              </a:rPr>
              <a:t>จำนวนข้อ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35A09-C4D7-4966-B336-955505FC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52412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34C75-05D1-427E-8091-A7A5417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019300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เข้าสู่ระบบ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2CA36-6FE9-4D76-ABED-826F024A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2019300"/>
            <a:ext cx="1581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F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F3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2A783-F17C-4407-932C-CC031FA2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0480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CBC57-F307-4559-8FE8-F26A85FF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543175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จัดการข้อมูล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C9142-EE91-45B4-BD7B-FF742B8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2543175"/>
            <a:ext cx="1581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F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F3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90ABB-77E9-4871-ACF9-A5726ED1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57187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DD121-9AE3-4DBA-91EF-A1221BC0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067050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ประมวลผล / เชื่อมโยง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1CCE3-7CF5-4DC8-B466-63ACB84E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3067050"/>
            <a:ext cx="1581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F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F3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F8421-0909-41D5-8D47-6CD62204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95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4246C-CE16-41BD-A8F2-2A6C0850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590925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ค้นหา / รายงาน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EFDD7-8CA7-406F-98C1-9D7DBDBD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3590925"/>
            <a:ext cx="1581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F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F3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D19AF-E343-491F-A2A3-DDA4BA03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61962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F6698F-3D53-46BE-AC66-911AB8F9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114800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สิทธิ์ / ความปลอดภัย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A7B62D-6482-4C98-9B4A-E1906412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114800"/>
            <a:ext cx="1581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F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F3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45C0B9-EB2E-44A1-B76B-09EC9C92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1435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C013ED-BF87-4582-99AB-770181C7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638675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ออกจากระบบ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0CDBF2-D3D8-4F6B-963C-7C4FFD26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638675"/>
            <a:ext cx="1581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F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F3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4E1036-48B1-4F80-9FE6-1C4C2D88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34352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รวม 15 ข้อ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36CD2-ADB4-4F7B-BBD4-E73A0884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1562100"/>
            <a:ext cx="32575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93B6C-7EF3-40EF-BA29-4034167D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17526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6E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8F6EE"/>
                </a:solidFill>
                <a:latin typeface="Tahoma"/>
                <a:ea typeface="Tahoma"/>
                <a:cs typeface="Tahoma"/>
              </a:rPr>
              <a:t>สถานะผลทดสอบ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42B82C-2AA3-4CDB-8EFA-290BE08E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305050"/>
            <a:ext cx="280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8F6E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8F6EE"/>
                </a:solidFill>
                <a:latin typeface="Tahoma"/>
                <a:ea typeface="Tahoma"/>
                <a:cs typeface="Tahoma"/>
              </a:rPr>
              <a:t>รอผลจริง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B871E6-28BC-422B-A81C-820ED72A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3248025"/>
            <a:ext cx="2800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8F6EE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8F6EE"/>
                </a:solidFill>
                <a:latin typeface="Tahoma"/>
                <a:ea typeface="Tahoma"/>
                <a:cs typeface="Tahoma"/>
              </a:rPr>
              <a:t>เกณฑ์ภาพรวม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567DE9-E7DA-452F-AD07-22C8C061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3676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8C18D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D8C18D"/>
                </a:solidFill>
                <a:latin typeface="Tahoma"/>
                <a:ea typeface="Tahoma"/>
                <a:cs typeface="Tahoma"/>
              </a:rPr>
              <a:t>ผ่าน ≥ 85%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52B95A-8C40-4553-BD6A-88BAD84D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4467225"/>
            <a:ext cx="2800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8F6EE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F8F6EE"/>
                </a:solidFill>
                <a:latin typeface="Tahoma"/>
                <a:ea typeface="Tahoma"/>
                <a:cs typeface="Tahoma"/>
              </a:rPr>
              <a:t>ร้อยละผ่าน =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D9B5E2-9339-4E52-88EC-667CCA86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485775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8F6EE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F8F6EE"/>
                </a:solidFill>
                <a:latin typeface="Tahoma"/>
                <a:ea typeface="Tahoma"/>
                <a:cs typeface="Tahoma"/>
              </a:rPr>
              <a:t>(ผ่าน ÷ ทั้งหมด) × 100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F2200E-B5BA-462C-AFCF-26F12A9B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864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จำนวนข้อข้างต้นเป็นเกณฑ์จัดชุดทดสอบ • ยังไม่ใช่จำนวนข้อที่ผ่าน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8393eed0849a6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653165c7e472b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299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373A1A-59FE-4F8B-9527-92585D8B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476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บทที่ 4 • รอผลจริง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8C3C5-22C4-48FA-AF80-9E7DAD56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การประเมินคุณภาพและความพึงพอใจ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7441A-1903-40BB-9224-AA3BCD25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BD9B2-B417-42E4-AA45-55F14572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58, 168–171 • สถานะยืนยันโดยผู้วิจัย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F22EB-E3E5-4D1A-BCAE-6AE5D3A1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64293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92C45-EF1C-41DF-B5DD-4FD6DB3C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428750"/>
            <a:ext cx="11125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ผู้ใช้งาน 30 คน: นักเรียน 12 • ผู้ปกครอง 12 • ครู 3 • ฝ่ายปกครอง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151FE-5C4C-4A0F-9268-EA0E1C4B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9431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917B9-7C4B-4C2F-8D4F-0916ED86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9812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6E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8F6EE"/>
                </a:solidFill>
                <a:latin typeface="Tahoma"/>
                <a:ea typeface="Tahoma"/>
                <a:cs typeface="Tahoma"/>
              </a:rPr>
              <a:t>รายการประเมิน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5C790-209C-4122-A539-5B1A80B9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19812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6E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8F6EE"/>
                </a:solidFill>
                <a:latin typeface="Tahoma"/>
                <a:ea typeface="Tahoma"/>
                <a:cs typeface="Tahoma"/>
              </a:rPr>
              <a:t>ผู้ประเมิน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7EAA0-D632-45CB-8084-4C41A14C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19812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6E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8F6EE"/>
                </a:solidFill>
                <a:latin typeface="Tahoma"/>
                <a:ea typeface="Tahoma"/>
                <a:cs typeface="Tahoma"/>
              </a:rPr>
              <a:t>ค่าเฉลี่ย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2D276-DA16-4095-967B-A31B2EE2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812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6E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8F6EE"/>
                </a:solidFill>
                <a:latin typeface="Tahoma"/>
                <a:ea typeface="Tahoma"/>
                <a:cs typeface="Tahoma"/>
              </a:rPr>
              <a:t>S.D.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CF265-0557-47BB-8DAB-18A268EB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6525" y="1981200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6E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8F6EE"/>
                </a:solidFill>
                <a:latin typeface="Tahoma"/>
                <a:ea typeface="Tahoma"/>
                <a:cs typeface="Tahoma"/>
              </a:rPr>
              <a:t>ระดับ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14704-88B9-4809-BD97-24D21398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9432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B2852-5E7F-4F99-BF92-05352C90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428875"/>
            <a:ext cx="441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ความปลอดภัย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E2039-2A28-4397-AE7E-2BBCBB69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428875"/>
            <a:ext cx="192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ผู้เชี่ยวชาญ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B6A9F-E651-46B9-89F6-4FFA9C45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2428875"/>
            <a:ext cx="1352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1F7C0-1FEC-42A7-935D-FDC58D51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2428875"/>
            <a:ext cx="1190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E049F-EEBE-4830-BE21-58FBFAEC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6525" y="2428875"/>
            <a:ext cx="1171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39DE5-F385-4942-ADB3-2B630854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86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FCBCCC-BAA9-4165-B6B3-0B79A468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971800"/>
            <a:ext cx="441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ความถูกต้อง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7B4E0-16B6-45B6-9CFB-8A9270AC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971800"/>
            <a:ext cx="192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ผู้เชี่ยวชาญ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CF3AE5-6EA8-4071-9373-AD5F81A7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2971800"/>
            <a:ext cx="1352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194AB3-E2AF-4B9D-916A-3440372F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2971800"/>
            <a:ext cx="1190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87607-0372-4D08-BA01-4676A604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6525" y="2971800"/>
            <a:ext cx="1171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39E77-89DF-46DF-968C-71E4B321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29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3A208A-34CA-49BB-93F9-9CED6B23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514725"/>
            <a:ext cx="441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การออกแบบ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059974-F52B-435D-9D3D-43A86A0B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514725"/>
            <a:ext cx="192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ผู้เชี่ยวชาญ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EC8352-F91E-4B07-B567-FDAC9D65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3514725"/>
            <a:ext cx="1352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49937C-26EF-472E-A5B1-16F8B0EF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3514725"/>
            <a:ext cx="1190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4FF278-A016-4C7F-A3EC-9E410004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6525" y="3514725"/>
            <a:ext cx="1171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86B17E-7453-424E-BDE5-7A56CD88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5720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33B370-6C41-400C-9FB2-ABAC6014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057650"/>
            <a:ext cx="441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ประโยชน์การใช้งาน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920E21-6046-430E-A73E-FB6E3389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4057650"/>
            <a:ext cx="192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ผู้เชี่ยวชาญ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9B8C94-69DF-4CC4-A84D-E19B0FFC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4057650"/>
            <a:ext cx="1352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F87F17-E2FC-4EF4-8F30-E8E829B0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4057650"/>
            <a:ext cx="1190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4C21A1-A675-4465-84D8-9503D0F2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6525" y="4057650"/>
            <a:ext cx="1171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E9A925-42E3-4CAB-A32B-DA3EBB95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114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57DDBF-B0F1-425A-BED0-3A94661D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600575"/>
            <a:ext cx="441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ความพึงพอใจภาพรวม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14AA6D-BDCF-4AC4-94B9-63A8399C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4600575"/>
            <a:ext cx="192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ผู้ใช้งาน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D7C78B-D8C6-4F91-B94D-50F241A1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4600575"/>
            <a:ext cx="1352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ABC5BE-F8EF-49A4-B906-D2A2A9FA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4600575"/>
            <a:ext cx="1190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1FD556-8C18-45EA-8011-DBAD8594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6525" y="4600575"/>
            <a:ext cx="1171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3200C3-167E-4520-ABFE-9BA48155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36257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รอผลจริง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CA1D36-9B2E-4890-A909-A102E749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10250"/>
            <a:ext cx="11125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เติมค่าเฉลี่ย • ส่วนเบี่ยงเบนมาตรฐาน • ระดับ เมื่อเก็บข้อมูลครบ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6efbdfb014a12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e52d7401d43c4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572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EC615D-8901-430E-A852-7FE94A3E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476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บทที่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1DA5A-0866-4300-8F6D-F66D6484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สรุป อภิปรายผล และแนวทางพัฒนาต่อ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41D5D-0954-4809-AF9F-A2B6AE6E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14A1A-F7A9-416B-A3DF-DE086D20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หน้าระบบจริงในบท 4 และงานที่เกี่ยวข้องในบท 2 • ข้อเสนอโดยผู้วิจัย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BE87E-B255-42A2-AB1E-92A62B2C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64293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EF833-9C34-4D88-8664-554138A3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628775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48D9E-D5A4-4C96-AFA1-8295E082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1628775"/>
            <a:ext cx="986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สรุปผลการพัฒนา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75488-1E00-45EB-BFE4-66E912B9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2085975"/>
            <a:ext cx="986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ระบบรวมข้อมูลวินัย เช็กชื่อ กิจกรรม และอุทธรณ์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71D9D-B4DF-4449-AD61-DE44EC0B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2514600"/>
            <a:ext cx="986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ผู้ใช้ 5 บทบาทเข้าถึงข้อมูลตามสิทธิ์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5ADBD-90A9-4D65-89ED-5CE87C0E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2962275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BA413-B734-4020-95DC-8E68DD9D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14325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8E0EF-0991-483F-BF4D-565331DD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3143250"/>
            <a:ext cx="986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อภิปรายผล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14E5D-CF4E-48D6-A5D7-47BCED16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3600450"/>
            <a:ext cx="986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สอดคล้องกับแนวคิด SDLC และการติดตามแบบมีส่วนร่วม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F89B3-7432-4E57-85C3-0296ACC6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4029075"/>
            <a:ext cx="986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รอผลประเมินจริงเพื่อสรุปคุณภาพและความพึงพอใจ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94CA7-127C-4755-B0D0-7AE65FC6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44767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853464-87F8-4853-A4F1-7DBFC45E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657725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4C3CC-7985-45CE-8DB5-0EC975F4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4657725"/>
            <a:ext cx="986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แนวทางพัฒนาต่อ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8D455-F580-4F2C-9048-794811E6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5114925"/>
            <a:ext cx="986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เก็บผลทดสอบและประเมินให้ครบ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BBE8A-2863-43C6-9180-D545D0E1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5543550"/>
            <a:ext cx="986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ปรับปรุงระบบจากข้อเสนอแนะของผู้ใช้งาน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20265aa0c47ff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22131deb74436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882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1C169-CFFD-437D-9894-6B82DA94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B540C-DB81-4CB9-A00E-4E41D980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CEA66-C376-4562-BE9A-1AE80E18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431482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ตอริก ลือแมะ / บุสริน มูซอ | สาขาเทคโนโลยีสารสนเทศ มหาวิทยาลัยราชภัฏยะลา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F5AB8-3BD3-4868-8B74-B3FF0FE9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BF4A1-0413-42AF-A3E0-840F69DA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1963" y="2343150"/>
            <a:ext cx="3648075" cy="959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487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ขอบคุณครับ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4F47C-064F-4C63-8E1A-B18EDC92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1575" y="352425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D9C5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20085-23A7-4582-B8D7-5F4824C4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3943350"/>
            <a:ext cx="4038600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ยินดีรับคำถามและข้อเสนอแนะ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1239114ca458d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4495075834628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55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2026-10-03T23:47:55.8570000Z</dcterms:created>
  <dcterms:modified xsi:type="dcterms:W3CDTF">2026-10-03T23:47:55.8570000Z</dcterms:modified>
</coreProperties>
</file>