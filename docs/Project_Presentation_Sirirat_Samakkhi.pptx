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เวลา: 20-30 วินาที</a:t>
            </a:r>
          </a:p>
          <a:p>
            <a:r>
              <a:t>บทพูด: กราบเรียนท่านคณะกรรมการและอาจารย์ที่เคารพทุกท่านครับ พวกเราขอนำเสนอโครงงานระบบสารสนเทศการบริหารงานวินัยและติดตามพฤติกรรมนักเรียน กรณีศึกษา โรงเรียนศิริราษฎร์สามัคคี จังหวัดปัตตานี จัดทำโดย นายตอริก ลือแม และ นายบุสริน มูซอ นักศึกษาสาขาวิชาเทคโนโลยีสารสนเทศ มหาวิทยาลัยราชภัฏยะลา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เวลา: 45-60 วินาที</a:t>
            </a:r>
          </a:p>
          <a:p>
            <a:r>
              <a:t>บทพูด: ที่มาและความสำคัญของปัญหาครับ โรงเรียนศิริราษฎร์สามัคคีเดิมใช้สมุดและกระดาษในการเช็คชื่อเข้าแถวหน้าเสาธง เช็คชื่อละหมาด และบันทึกคะแนนความประพฤติ ทำให้เกิดปัญหาสำคัญ 4 ประการ คือ ข้อมูลกระจัดกระจาย ค้นหาล่าช้า คะแนนไม่อัปเดตแบบเรียลไทม์ และผู้ปกครองไม่ทราบพฤติกรรมทันเวลา ทางคณะผู้จัดทำจึงพัฒนาระบบสารสนเทศบนเว็บ เพื่อรวมศูนย์ข้อมูล นำ QR Code มาช่วยสแกนเช็คชื่อละหมาด มีแดชบอร์ดติดตามนักเรียนกลุ่มเสี่ยง และเปิดให้ผู้ปกครองติดตามผลได้แบบเรียลไทม์ครับ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เวลา: 30-45 วินาที</a:t>
            </a:r>
          </a:p>
          <a:p>
            <a:r>
              <a:t>บทพูด: วัตถุประสงค์ของโครงงานมี 3 ข้อหลักตามแบบเสนอโครงการครับ ข้อที่ 1 เพื่อออกแบบและพัฒนาระบบสารสนเทศการบริหารงานวินัยและติดตามพฤติกรรมนักเรียน ข้อที่ 2 เพื่อเพิ่มประสิทธิภาพในการบันทึก ตัดคะแนน เช็คชื่อเข้าแถวและละหมาด และข้อที่ 3 เพื่อประเมินความถูกต้องของระบบด้วยวิธี Black Box Testing พร้อมประเมินคุณภาพจากผู้เชี่ยวชาญและผู้ใช้งานจริงครับ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เวลา: 30-45 วินาที</a:t>
            </a:r>
          </a:p>
          <a:p>
            <a:r>
              <a:t>บทพูด: ขอบเขตของโครงงานครอบคลุมผู้ใช้งาน 5 กลุ่มบทบาทในโรงเรียนศิริราษฎร์สามัคคีครับ กลุ่มที่ 1 แอดมิน ดูแลระบบและพิมพ์บัตร QR กลุ่มที่ 2 ฝ่ายปกครอง ตรวจอนุมัติตัดคะแนนและติดตามเด็กกลุ่มเสี่ยง กลุ่มที่ 3 ครูที่ปรึกษา เช็คชื่อเข้าแถวและสแกนละหมาด กลุ่มที่ 4 นักเรียน ดูคะแนนคงเหลือ ยื่นอุทธรณ์ และกลุ่มที่ 5 ผู้ปกครอง สลับดูข้อมูลบุตรหลานและติดต่อครูได้โดยตรงครับ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เวลา: 30-45 วินาที</a:t>
            </a:r>
          </a:p>
          <a:p>
            <a:r>
              <a:t>บทพูด: แนวคิด ทฤษฎี และงานวิจัยที่เกี่ยวข้องครับ ด้านกระบวนการเราใช้ SDLC Waterfall ด้านระบบใช้ Laravel Framework สถาปัตยกรรม MVC และ MySQL 15 ตาราง นอกจากนี้ยังได้ศึกษางานวิจัยที่เกี่ยวข้อง 3 เรื่องหลัก คือ ระบบตัดคะแนนพฤติกรรมดิจิทัล, การเช็คชื่อด้วย QR Code และระบบการสื่อสารระหว่างโรงเรียนกับผู้ปกครอง ซึ่งนำมาประยุกต์ใช้เป็นหัวใจหลักของฟังก์ชันในระบบเราครับ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เวลา: 45-60 วินาที</a:t>
            </a:r>
          </a:p>
          <a:p>
            <a:r>
              <a:t>บทพูด: วิธีดำเนินการพัฒนาแบ่งเป็น 6 ขั้นตอนตามหลัก SDLC ครับ ขั้นแรกวางแผนสำรวจปัญหาในโรงเรียน ขั้นที่สองวิเคราะห์ความต้องการผู้ใช้และทำ DFD ขั้นที่สามออกแบบ ER-Diagram 15 ตาราง ขั้นที่สี่เขียนโปรแกรมระบบงานด้วย Laravel และ Blade ขั้นที่ห้าทดสอบการทำงานด้วยวิธี Black Box 15 ข้อ และขั้นที่หกนำขึ้นติดตั้งบนเซิร์ฟเวอร์จริงของมหาวิทยาลัยราชภัฏยะลา พร้อมประเมินผลการใช้งานครับ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เวลา: 45-60 วินาที</a:t>
            </a:r>
          </a:p>
          <a:p>
            <a:r>
              <a:t>บทพูด: ผลการวิเคราะห์และออกแบบระบบครับ สถาปัตยกรรมทำงานแบบ 3-Tier บน Laravel MVC ฐานข้อมูลมี 15 ตารางหลัก มีการวิเคราะห์ DFD Level 1 ครอบคลุม 8 กระบวนการหลัก ตั้งแต่จัดการข้อมูลผู้ใช้ เช็คชื่อเข้าแถว ตัดคะแนน รับแจ้งเบาะแส ตรวจอุทธรณ์ สแกนละหมาด แชทติดต่อผู้ปกครอง และออกรายงานสรุปสถิติครับ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เวลา: 1-1.5 นาที (สำคัญที่สุด ⭐)</a:t>
            </a:r>
          </a:p>
          <a:p>
            <a:r>
              <a:t>บทพูด: ผลการพัฒนาระบบจริงส่วนแรกครับ ภาพด้านซ้ายคือหน้ารายชื่อนักเรียนกลุ่มเสี่ยงสำหรับฝ่ายปกครอง ระบบจะคัดกรองนักเรียนที่คะแนนต่ำกว่า 50 ทันที เพื่อให้เรียกพบตักเตือนก่อนถูกตัดสิทธิ์สอบ แก้ปัญหาเดิมที่ไม่ทราบข้อมูลจนสิ้นเทอม ส่วนภาพด้านขวาคือระบบสแกน QR Code เช็คชื่อละหมาด ครูสามารถใช้สมาร์ตโฟนสแกนบัตรนักเรียนเพื่อเช็คชื่อละหมาดและเข้าแถวได้รวดเร็วเพียง 1 วินาทีต่อคน พร้อมเสียงปี๊บตอบรับ แก้ปัญหาการจดกระดาษล่าช้าได้สมบูรณ์ครับ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เวลา: 1-1.5 นาที (สำคัญที่สุด ⭐)</a:t>
            </a:r>
          </a:p>
          <a:p>
            <a:r>
              <a:t>บทพูด: ผลการพัฒนาระบบจริงส่วนที่สองครับ ภาพด้านซ้ายคือหน้าแดชบอร์ดนักเรียน แสดงคะแนนความประพฤติคงเหลือ สถิติการมาแถว มีระบบเปิดบัตร QR Code ประจำตัว และปุ่มยื่นอุทธรณ์คะแนน ส่วนภาพด้านขวาคือหน้าแดชบอร์ดผู้ปกครอง ซึ่งมีฟังก์ชันเด่นคือปุ่ม 'สลับดูบุตรหลาน' ทำให้ผู้ปกครองที่มีลูกเรียนอยู่หลายคน สามารถกดสลับดูประวัติคะแนนและเวลาเรียนของลูกแต่ละคนได้ในบัญชีเดียว พร้อมระบบส่งข้อความแชทตรงถึงครูที่ปรึกษาครับ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เวลา: 45-60 วินาที</a:t>
            </a:r>
          </a:p>
          <a:p>
            <a:r>
              <a:t>บทพูด: ผลการพัฒนาระบบจริงส่วนที่สามครับ ด้านซ้ายคือระบบอนุมัติการตัดคะแนนพฤติกรรม เมื่อครูพบนักเรียนกระทำผิดจะส่งเรื่องพร้อมรูปหลักฐานเข้ามา ฝ่ายปกครองสามารถตรวจสอบความถูกต้องก่อนกดอนุมัติ ป้องกันการตัดคะแนนผิดพลาด และด้านขวาคือหน้ารายงานสรุปพฤติกรรม สามารถกรองข้อมูลตามช่วงวันที่ ระดับชั้น และสั่งพิมพ์เป็น PDF หรือส่งออกเป็นไฟล์ Excel เพื่อรายงานผู้อำนวยการโรงเรียนได้ทันทีครับ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เวลา: 45-60 วินาที</a:t>
            </a:r>
          </a:p>
          <a:p>
            <a:r>
              <a:t>บทพูด: ผลการทดสอบการทำงานของระบบด้วยเทคนิค Black Box Testing ตามแบบฟอร์ม P08-1 จำนวน 6 ด้าน 15 กรณีทดสอบครับ มีกรณีทดสอบที่ผ่าน 13 ข้อ คิดเป็นร้อยละ 86.67 ซึ่งสูงกว่าเกณฑ์ขั้นต่ำที่กำหนดไว้คือร้อยละ 85 จึงสรุปได้ว่าระบบผ่านเกณฑ์การทดสอบการทำงานจริงครับ โดยข้อที่พบจุดบกพร่องในตอนแรกทางคณะผู้จัดทำได้แก้ไขปรับปรุงจนทำงานได้ถูกต้องเรียบร้อยแล้วครับ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เวลา: 45-60 วินาที</a:t>
            </a:r>
          </a:p>
          <a:p>
            <a:r>
              <a:t>บทพูด: ผลการประเมินคุณภาพระบบจากผู้เชี่ยวชาญครับ มีค่าเฉลี่ยรวมทุกด้านอยู่ที่ 4.44 ระดับมาก โดยด้านที่มีคะแนนสูงสุดคือด้านความถูกต้องของระบบ ได้ 4.52 อยู่ในระดับมากที่สุด ตามด้วยด้านความปลอดภัย 4.45 และด้านการนำไปใช้ประโยชน์ 4.40 สะท้อนให้เห็นว่าระบบสามารถตอบสนองการใช้งานจริงของโรงเรียนได้อย่างมีประสิทธิภาพครับ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เวลา: 45-60 วินาที</a:t>
            </a:r>
          </a:p>
          <a:p>
            <a:r>
              <a:t>บทพูด: สรุปผล อภิปรายผล และข้อเสนอแนะครับ สรุปคือระบบสามารถใช้งานได้จริงตามวัตถุประสงค์ ช่วยลดความล่าช้าของเอกสาร และช่วยให้ผู้ปกครองรับรู้พฤติกรรมบุตรหลานได้ทันท่วงที สำหรับข้อเสนอแนะในการพัฒนาต่อยอดในอนาคต คือการพัฒนาเป็นแอปพลิเคชันมือถือ การส่งข้อความแจ้งเตือนผ่าน LINE อัตโนมัติ และการนำโมเดล AI มาช่วยทำนายแนวโน้มพฤติกรรมนักเรียนกลุ่มเสี่ยงครับ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เวลา: ไม่จำกัด (ช่วงซักถาม)</a:t>
            </a:r>
          </a:p>
          <a:p>
            <a:r>
              <a:t>บทพูด: กลุ่มของกระผมขอจบการนำเสนอโครงงานระบบสารสนเทศการบริหารงานวินัยและติดตามพฤติกรรมนักเรียน โรงเรียนศิริราษฎร์สามัคคี เพียงเท่านี้ ขอขอบพระคุณท่านคณะกรรมการทุกท่านเป็นอย่างสูง และพร้อมรับฟังคำชี้แนะรวมถึงตอบข้อซักถามครับ ขอบคุณครับ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hool_fro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0"/>
            <a:ext cx="3383280" cy="25374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66344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Leelawadee UI"/>
              </a:defRPr>
            </a:pPr>
            <a:r>
              <a:t>กรณีศึกษา</a:t>
            </a:r>
            <a:br/>
            <a:r>
              <a:t>โรงเรียนศิริราษฎร์สามัคคี จังหวัดปัตตานี</a:t>
            </a:r>
          </a:p>
          <a:p>
            <a:pPr algn="ctr">
              <a:defRPr sz="1050">
                <a:solidFill>
                  <a:srgbClr val="BED2F0"/>
                </a:solidFill>
                <a:latin typeface="Leelawadee UI"/>
              </a:defRPr>
            </a:pPr>
            <a:r>
              <a:t>Sirirat Samakkhi School, Pattani Province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640080"/>
            <a:ext cx="7040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E87722"/>
                </a:solidFill>
                <a:latin typeface="Leelawadee UI"/>
              </a:defRPr>
            </a:pPr>
            <a:r>
              <a:t>การนำเสนอโครงงานเทคโนโลยีสารสนเทศ (7–10 นาที)</a:t>
            </a:r>
          </a:p>
          <a:p>
            <a:pPr>
              <a:spcAft>
                <a:spcPts val="400"/>
              </a:spcAft>
              <a:defRPr sz="2800" b="1">
                <a:solidFill>
                  <a:srgbClr val="1B365D"/>
                </a:solidFill>
                <a:latin typeface="Leelawadee UI"/>
              </a:defRPr>
            </a:pPr>
            <a:r>
              <a:t>ระบบสารสนเทศการบริหารงานวินัย</a:t>
            </a:r>
            <a:br/>
            <a:r>
              <a:t>และติดตามพฤติกรรมนักเรียน</a:t>
            </a:r>
          </a:p>
          <a:p>
            <a:pPr>
              <a:defRPr sz="1400">
                <a:solidFill>
                  <a:srgbClr val="64748B"/>
                </a:solidFill>
                <a:latin typeface="Leelawadee UI"/>
              </a:defRPr>
            </a:pPr>
            <a:r>
              <a:t>Student Discipline and Behavior Tracking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931920"/>
            <a:ext cx="694944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411480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B365D"/>
                </a:solidFill>
                <a:latin typeface="Leelawadee UI"/>
              </a:defRPr>
            </a:pPr>
            <a:r>
              <a:t>คณะผู้จัดทำ (Researchers):</a:t>
            </a:r>
          </a:p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  <a:latin typeface="Leelawadee UI"/>
              </a:defRPr>
            </a:pPr>
            <a:r>
              <a:t>• นายตอริก ลือแม          รหัสนักศึกษา 406665012</a:t>
            </a:r>
            <a:br/>
            <a:r>
              <a:t>• นายบุสริน มูซอ          รหัสนักศึกษา 406665027</a:t>
            </a:r>
          </a:p>
          <a:p>
            <a:pPr>
              <a:defRPr sz="1100">
                <a:solidFill>
                  <a:srgbClr val="64748B"/>
                </a:solidFill>
                <a:latin typeface="Leelawadee UI"/>
              </a:defRPr>
            </a:pPr>
            <a:r>
              <a:t>สาขาวิชาเทคโนโลยีสารสนเทศ คณะวิทยาศาสตร์เทคโนโลยีและการเกษตร</a:t>
            </a:r>
            <a:br/>
            <a:r>
              <a:t>มหาวิทยาลัยราชภัฏยะลา  |  ปีการศึกษา 2569</a:t>
            </a:r>
          </a:p>
        </p:txBody>
      </p:sp>
      <p:pic>
        <p:nvPicPr>
          <p:cNvPr id="8" name="Picture 7" descr="logo_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548640"/>
            <a:ext cx="718593" cy="960120"/>
          </a:xfrm>
          <a:prstGeom prst="rect">
            <a:avLst/>
          </a:prstGeom>
        </p:spPr>
      </p:pic>
      <p:pic>
        <p:nvPicPr>
          <p:cNvPr id="9" name="Picture 8" descr="logo_depart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48640"/>
            <a:ext cx="947087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87722"/>
                </a:solidFill>
                <a:latin typeface="Leelawadee UI"/>
              </a:defRPr>
            </a:pPr>
            <a:r>
              <a:t>บทที่ 1 : บทนำ</a:t>
            </a:r>
          </a:p>
          <a:p>
            <a:pPr>
              <a:defRPr sz="2200" b="1">
                <a:solidFill>
                  <a:srgbClr val="1B365D"/>
                </a:solidFill>
                <a:latin typeface="Leelawadee UI"/>
              </a:defRPr>
            </a:pPr>
            <a:r>
              <a:t>ที่มาและความสำคัญของปัญหา (Problem Background)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92608"/>
            <a:ext cx="1920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E87722"/>
                </a:solidFill>
                <a:latin typeface="Leelawadee UI"/>
              </a:defRPr>
            </a:pPr>
            <a:r>
              <a:t>⏱ 45–60 วิ</a:t>
            </a:r>
          </a:p>
          <a:p>
            <a:pPr algn="r">
              <a:defRPr sz="1000">
                <a:solidFill>
                  <a:srgbClr val="1B365D"/>
                </a:solidFill>
                <a:latin typeface="Leelawadee UI"/>
              </a:defRPr>
            </a:pPr>
            <a:r>
              <a:t>โรงเรียนศิริราษฎร์สามัคคี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DC2626"/>
                </a:solidFill>
                <a:latin typeface="Leelawadee UI"/>
              </a:defRPr>
            </a:pPr>
            <a:r>
              <a:t>❌ สภาพปัญหาของระบบเดิม (Manual Process)</a:t>
            </a:r>
          </a:p>
          <a:p>
            <a:pPr>
              <a:spcAft>
                <a:spcPts val="800"/>
              </a:spcAft>
              <a:defRPr sz="1250" b="1">
                <a:solidFill>
                  <a:srgbClr val="1E293B"/>
                </a:solidFill>
                <a:latin typeface="Leelawadee UI"/>
              </a:defRPr>
            </a:pPr>
            <a:r>
              <a:t>• การบันทึกด้วยเอกสารกระดาษ: </a:t>
            </a:r>
            <a:r>
              <a:rPr b="0" sz="1150">
                <a:solidFill>
                  <a:srgbClr val="64748B"/>
                </a:solidFill>
              </a:rPr>
              <a:t>เช็คชื่อเข้าแถวและละหมาดด้วยสมุดจด ข้อมูลกระจัดกระจาย ตกหล่นและสูญหายง่าย</a:t>
            </a:r>
          </a:p>
          <a:p>
            <a:pPr>
              <a:spcAft>
                <a:spcPts val="800"/>
              </a:spcAft>
              <a:defRPr sz="1250" b="1">
                <a:solidFill>
                  <a:srgbClr val="1E293B"/>
                </a:solidFill>
                <a:latin typeface="Leelawadee UI"/>
              </a:defRPr>
            </a:pPr>
            <a:r>
              <a:t>• ค้นหาประวัติล่าช้าและซ้ำซ้อน: </a:t>
            </a:r>
            <a:r>
              <a:rPr b="0" sz="1150">
                <a:solidFill>
                  <a:srgbClr val="64748B"/>
                </a:solidFill>
              </a:rPr>
              <a:t>การตรวจสอบพฤติกรรมย้อนหลังต้องเปิดแฟ้มเอกสารทีละหน้า ไม่สามารถสรุปผลทันที</a:t>
            </a:r>
          </a:p>
          <a:p>
            <a:pPr>
              <a:spcAft>
                <a:spcPts val="800"/>
              </a:spcAft>
              <a:defRPr sz="1250" b="1">
                <a:solidFill>
                  <a:srgbClr val="1E293B"/>
                </a:solidFill>
                <a:latin typeface="Leelawadee UI"/>
              </a:defRPr>
            </a:pPr>
            <a:r>
              <a:t>• คะแนนไม่สะท้อนสถานะปัจจุบัน: </a:t>
            </a:r>
            <a:r>
              <a:rPr b="0" sz="1150">
                <a:solidFill>
                  <a:srgbClr val="64748B"/>
                </a:solidFill>
              </a:rPr>
              <a:t>คะแนนคงเหลือไม่อัปเดตแบบ Real-time ฝ่ายปกครองตรวจจับเด็กกลุ่มเสี่ยงไม่ทันการณ์</a:t>
            </a:r>
          </a:p>
          <a:p>
            <a:pPr>
              <a:spcAft>
                <a:spcPts val="800"/>
              </a:spcAft>
              <a:defRPr sz="1250" b="1">
                <a:solidFill>
                  <a:srgbClr val="1E293B"/>
                </a:solidFill>
                <a:latin typeface="Leelawadee UI"/>
              </a:defRPr>
            </a:pPr>
            <a:r>
              <a:t>• ผู้ปกครองขาดการรับรู้ทันท่วงที: </a:t>
            </a:r>
            <a:r>
              <a:rPr b="0" sz="1150">
                <a:solidFill>
                  <a:srgbClr val="64748B"/>
                </a:solidFill>
              </a:rPr>
              <a:t>มักจะทราบเมื่อสิ้นภาคเรียนหรือเมื่อมีหนังสือเชิญ ทำให้พลาดโอกาสตักเตือนบุตรหลาน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6A34A"/>
                </a:solidFill>
                <a:latin typeface="Leelawadee UI"/>
              </a:defRPr>
            </a:pPr>
            <a:r>
              <a:t>✔ แนวทางแก้ไขด้วยระบบสารสนเทศ (Digital Solution)</a:t>
            </a:r>
          </a:p>
          <a:p>
            <a:pPr>
              <a:spcAft>
                <a:spcPts val="800"/>
              </a:spcAft>
              <a:defRPr sz="1250" b="1">
                <a:solidFill>
                  <a:srgbClr val="1E293B"/>
                </a:solidFill>
                <a:latin typeface="Leelawadee UI"/>
              </a:defRPr>
            </a:pPr>
            <a:r>
              <a:t>• ระบบฐานข้อมูลรวมศูนย์ (Cloud Database): </a:t>
            </a:r>
            <a:r>
              <a:rPr b="0" sz="1150">
                <a:solidFill>
                  <a:srgbClr val="64748B"/>
                </a:solidFill>
              </a:rPr>
              <a:t>จัดเก็บข้อมูลนักเรียน คะแนนพฤติกรรม และเวลาเรียนไว้ที่เดียวอย่างปลอดภัย</a:t>
            </a:r>
          </a:p>
          <a:p>
            <a:pPr>
              <a:spcAft>
                <a:spcPts val="800"/>
              </a:spcAft>
              <a:defRPr sz="1250" b="1">
                <a:solidFill>
                  <a:srgbClr val="1E293B"/>
                </a:solidFill>
                <a:latin typeface="Leelawadee UI"/>
              </a:defRPr>
            </a:pPr>
            <a:r>
              <a:t>• เช็คชื่อรวดเร็วด้วย QR Code / บาร์โค้ด: </a:t>
            </a:r>
            <a:r>
              <a:rPr b="0" sz="1150">
                <a:solidFill>
                  <a:srgbClr val="64748B"/>
                </a:solidFill>
              </a:rPr>
              <a:t>สแกนบัตรเช็คชื่อละหมาดและเข้าแถว บันทึกผลอัตโนมัติภายใน 1 วินาที/คน</a:t>
            </a:r>
          </a:p>
          <a:p>
            <a:pPr>
              <a:spcAft>
                <a:spcPts val="800"/>
              </a:spcAft>
              <a:defRPr sz="1250" b="1">
                <a:solidFill>
                  <a:srgbClr val="1E293B"/>
                </a:solidFill>
                <a:latin typeface="Leelawadee UI"/>
              </a:defRPr>
            </a:pPr>
            <a:r>
              <a:t>• แดชบอร์ดนักเรียนกลุ่มเสี่ยง (Risk Monitor): </a:t>
            </a:r>
            <a:r>
              <a:rPr b="0" sz="1150">
                <a:solidFill>
                  <a:srgbClr val="64748B"/>
                </a:solidFill>
              </a:rPr>
              <a:t>คัดกรองนักเรียนที่คะแนนต่ำกว่า 50 อัตโนมัติ เพื่อเรียกพบ ทำทัณฑ์บน หรือตักเตือน</a:t>
            </a:r>
          </a:p>
          <a:p>
            <a:pPr>
              <a:spcAft>
                <a:spcPts val="800"/>
              </a:spcAft>
              <a:defRPr sz="1250" b="1">
                <a:solidFill>
                  <a:srgbClr val="1E293B"/>
                </a:solidFill>
                <a:latin typeface="Leelawadee UI"/>
              </a:defRPr>
            </a:pPr>
            <a:r>
              <a:t>• พอร์ทัลผู้ปกครอง (Parent Portal): </a:t>
            </a:r>
            <a:r>
              <a:rPr b="0" sz="1150">
                <a:solidFill>
                  <a:srgbClr val="64748B"/>
                </a:solidFill>
              </a:rPr>
              <a:t>เข้าดูคะแนน เวลาเรียน สลับดูข้อมูลบุตรหลานได้หลายคนในบัญชีเดียว และแชทหาครู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87722"/>
                </a:solidFill>
                <a:latin typeface="Leelawadee UI"/>
              </a:defRPr>
            </a:pPr>
            <a:r>
              <a:t>บทที่ 1 : บทนำ</a:t>
            </a:r>
          </a:p>
          <a:p>
            <a:pPr>
              <a:defRPr sz="2200" b="1">
                <a:solidFill>
                  <a:srgbClr val="1B365D"/>
                </a:solidFill>
                <a:latin typeface="Leelawadee UI"/>
              </a:defRPr>
            </a:pPr>
            <a:r>
              <a:t>วัตถุประสงค์ของโครงงาน (Project Objectives)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92608"/>
            <a:ext cx="1920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E87722"/>
                </a:solidFill>
                <a:latin typeface="Leelawadee UI"/>
              </a:defRPr>
            </a:pPr>
            <a:r>
              <a:t>⏱ 30–45 วิ</a:t>
            </a:r>
          </a:p>
          <a:p>
            <a:pPr algn="r">
              <a:defRPr sz="1000">
                <a:solidFill>
                  <a:srgbClr val="1B365D"/>
                </a:solidFill>
                <a:latin typeface="Leelawadee UI"/>
              </a:defRPr>
            </a:pPr>
            <a:r>
              <a:t>โรงเรียนศิริราษฎร์สามัคคี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280160" cy="12801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Leelawade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783080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B365D"/>
                </a:solidFill>
                <a:latin typeface="Leelawadee UI"/>
              </a:defRPr>
            </a:pPr>
            <a:r>
              <a:t>เพื่อออกแบบและพัฒนาระบบสารสนเทศ</a:t>
            </a:r>
          </a:p>
          <a:p>
            <a:pPr>
              <a:defRPr sz="1200">
                <a:solidFill>
                  <a:srgbClr val="64748B"/>
                </a:solidFill>
                <a:latin typeface="Leelawadee UI"/>
              </a:defRPr>
            </a:pPr>
            <a:r>
              <a:t>การบริหารงานวินัยและติดตามพฤติกรรมนักเรียน กรณีศึกษา โรงเรียนศิริราษฎร์สามัคคี ให้ทำงานได้อย่างถูกต้อง ครอบคลุม 5 กลุ่มผู้ใช้งานหลัก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1280160" cy="1280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Leelawade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337560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B365D"/>
                </a:solidFill>
                <a:latin typeface="Leelawadee UI"/>
              </a:defRPr>
            </a:pPr>
            <a:r>
              <a:t>เพื่อเพิ่มประสิทธิภาพการบริหารจัดการงานวินัย</a:t>
            </a:r>
          </a:p>
          <a:p>
            <a:pPr>
              <a:defRPr sz="1200">
                <a:solidFill>
                  <a:srgbClr val="64748B"/>
                </a:solidFill>
                <a:latin typeface="Leelawadee UI"/>
              </a:defRPr>
            </a:pPr>
            <a:r>
              <a:t>ช่วยให้ครูและฝ่ายปกครองสามารถเช็คชื่อเข้าแถว สแกนละหมาด บันทึกคะแนนพฤติกรรม และตรวจอุทธรณ์ได้อย่างรวดเร็ว ลดขั้นตอนเอกสาร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1280160" cy="12801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Leelawade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892040"/>
            <a:ext cx="8961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B365D"/>
                </a:solidFill>
                <a:latin typeface="Leelawadee UI"/>
              </a:defRPr>
            </a:pPr>
            <a:r>
              <a:t>เพื่อประเมินประสิทธิภาพและความพึงพอใจ</a:t>
            </a:r>
          </a:p>
          <a:p>
            <a:pPr>
              <a:defRPr sz="1200">
                <a:solidFill>
                  <a:srgbClr val="64748B"/>
                </a:solidFill>
                <a:latin typeface="Leelawadee UI"/>
              </a:defRPr>
            </a:pPr>
            <a:r>
              <a:t>ทดสอบการทำงานของระบบตามเกณฑ์ Black Box Testing และประเมินความพึงพอใจจากผู้เชี่ยวชาญด้านไอทีและกลุ่มผู้ใช้งานจริงในโรงเรียน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87722"/>
                </a:solidFill>
                <a:latin typeface="Leelawadee UI"/>
              </a:defRPr>
            </a:pPr>
            <a:r>
              <a:t>บทที่ 1 : บทนำ</a:t>
            </a:r>
          </a:p>
          <a:p>
            <a:pPr>
              <a:defRPr sz="2200" b="1">
                <a:solidFill>
                  <a:srgbClr val="1B365D"/>
                </a:solidFill>
                <a:latin typeface="Leelawadee UI"/>
              </a:defRPr>
            </a:pPr>
            <a:r>
              <a:t>ขอบเขตของโครงงานและบทบาทผู้ใช้งาน (Project Scope)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92608"/>
            <a:ext cx="1920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E87722"/>
                </a:solidFill>
                <a:latin typeface="Leelawadee UI"/>
              </a:defRPr>
            </a:pPr>
            <a:r>
              <a:t>⏱ 30–45 วิ</a:t>
            </a:r>
          </a:p>
          <a:p>
            <a:pPr algn="r">
              <a:defRPr sz="1000">
                <a:solidFill>
                  <a:srgbClr val="1B365D"/>
                </a:solidFill>
                <a:latin typeface="Leelawadee UI"/>
              </a:defRPr>
            </a:pPr>
            <a:r>
              <a:t>โรงเรียนศิริราษฎร์สามัคคี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011680" cy="9144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Leelawadee UI"/>
              </a:defRPr>
            </a:pPr>
            <a:r>
              <a:t>ผู้ดูแลระบบ</a:t>
            </a:r>
            <a:br/>
            <a:r>
              <a:t>(Admin)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1737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  <a:latin typeface="Leelawadee UI"/>
              </a:defRPr>
            </a:pPr>
            <a:r>
              <a:t>• จัดการผู้ใช้งานระบบ</a:t>
            </a:r>
            <a:br/>
            <a:r>
              <a:t>• จัดการข้อมูล นร./ครู</a:t>
            </a:r>
            <a:br/>
            <a:r>
              <a:t>• นำเข้าไฟล์ Excel/CSV</a:t>
            </a:r>
            <a:br/>
            <a:r>
              <a:t>• พิมพ์บัตรประจำตัว นร.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645920"/>
            <a:ext cx="201168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07792" y="1645920"/>
            <a:ext cx="2011680" cy="9144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Leelawadee UI"/>
              </a:defRPr>
            </a:pPr>
            <a:r>
              <a:t>ฝ่ายปกครอง</a:t>
            </a:r>
            <a:br/>
            <a:r>
              <a:t>(Discipline)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2743200"/>
            <a:ext cx="1737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  <a:latin typeface="Leelawadee UI"/>
              </a:defRPr>
            </a:pPr>
            <a:r>
              <a:t>• กำหนดเกณฑ์กฎระเบียบ</a:t>
            </a:r>
            <a:br/>
            <a:r>
              <a:t>• อนุมัติตัด/เพิ่มคะแนน</a:t>
            </a:r>
            <a:br/>
            <a:r>
              <a:t>• มอนิเตอร์เด็กกลุ่มเสี่ยง</a:t>
            </a:r>
            <a:br/>
            <a:r>
              <a:t>• จัดการเรื่องอุทธรณ์/เบาะแส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645920"/>
            <a:ext cx="201168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84064" y="1645920"/>
            <a:ext cx="201168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Leelawadee UI"/>
              </a:defRPr>
            </a:pPr>
            <a:r>
              <a:t>ครูที่ปรึกษา</a:t>
            </a:r>
            <a:br/>
            <a:r>
              <a:t>(Teacher)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743200"/>
            <a:ext cx="1737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  <a:latin typeface="Leelawadee UI"/>
              </a:defRPr>
            </a:pPr>
            <a:r>
              <a:t>• เช็คชื่อเข้าเรียน/แถว</a:t>
            </a:r>
            <a:br/>
            <a:r>
              <a:t>• บันทึกพฤติกรรม+รูป</a:t>
            </a:r>
            <a:br/>
            <a:r>
              <a:t>• สแกน QR ละหมาด</a:t>
            </a:r>
            <a:br/>
            <a:r>
              <a:t>• แชทติดต่อผู้ปกครอง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645920"/>
            <a:ext cx="201168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0336" y="1645920"/>
            <a:ext cx="2011680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Leelawadee UI"/>
              </a:defRPr>
            </a:pPr>
            <a:r>
              <a:t>นักเรียน</a:t>
            </a:r>
            <a:br/>
            <a:r>
              <a:t>(Student)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2743200"/>
            <a:ext cx="1737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  <a:latin typeface="Leelawadee UI"/>
              </a:defRPr>
            </a:pPr>
            <a:r>
              <a:t>• ดูคะแนนคงเหลือ (100)</a:t>
            </a:r>
            <a:br/>
            <a:r>
              <a:t>• เช็คประวัติเข้าแถว</a:t>
            </a:r>
            <a:br/>
            <a:r>
              <a:t>• บัตร QR ละหมาด</a:t>
            </a:r>
            <a:br/>
            <a:r>
              <a:t>• ยื่นอุทธรณ์/แจ้งเบาะแส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645920"/>
            <a:ext cx="201168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36608" y="1645920"/>
            <a:ext cx="2011680" cy="914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Leelawadee UI"/>
              </a:defRPr>
            </a:pPr>
            <a:r>
              <a:t>ผู้ปกครอง</a:t>
            </a:r>
            <a:br/>
            <a:r>
              <a:t>(Parent)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2743200"/>
            <a:ext cx="1737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  <a:latin typeface="Leelawadee UI"/>
              </a:defRPr>
            </a:pPr>
            <a:r>
              <a:t>• แดชบอร์ดดูพฤติกรรม</a:t>
            </a:r>
            <a:br/>
            <a:r>
              <a:t>• ปุ่มสลับบุตรหลาน</a:t>
            </a:r>
            <a:br/>
            <a:r>
              <a:t>• ดูประวัติตัดคะแนน/เวลา</a:t>
            </a:r>
            <a:br/>
            <a:r>
              <a:t>• ส่งข้อความหาครูที่ปรึกษา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87722"/>
                </a:solidFill>
                <a:latin typeface="Leelawadee UI"/>
              </a:defRPr>
            </a:pPr>
            <a:r>
              <a:t>บทที่ 2 : เอกสารและงานวิจัยที่เกี่ยวข้อง</a:t>
            </a:r>
          </a:p>
          <a:p>
            <a:pPr>
              <a:defRPr sz="2200" b="1">
                <a:solidFill>
                  <a:srgbClr val="1B365D"/>
                </a:solidFill>
                <a:latin typeface="Leelawadee UI"/>
              </a:defRPr>
            </a:pPr>
            <a:r>
              <a:t>แนวคิด ทฤษฎี และงานวิจัยที่เกี่ยวข้อง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92608"/>
            <a:ext cx="1920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E87722"/>
                </a:solidFill>
                <a:latin typeface="Leelawadee UI"/>
              </a:defRPr>
            </a:pPr>
            <a:r>
              <a:t>⏱ 30–45 วิ</a:t>
            </a:r>
          </a:p>
          <a:p>
            <a:pPr algn="r">
              <a:defRPr sz="1000">
                <a:solidFill>
                  <a:srgbClr val="1B365D"/>
                </a:solidFill>
                <a:latin typeface="Leelawadee UI"/>
              </a:defRPr>
            </a:pPr>
            <a:r>
              <a:t>โรงเรียนศิริราษฎร์สามัคคี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55648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Leelawadee UI"/>
              </a:defRPr>
            </a:pPr>
            <a:r>
              <a:t>SDLC Waterfall Model </a:t>
            </a:r>
            <a:r>
              <a:rPr sz="1100" b="0">
                <a:solidFill>
                  <a:srgbClr val="E87722"/>
                </a:solidFill>
              </a:rPr>
              <a:t>(วงจรการพัฒนาระบบ)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Leelawadee UI"/>
              </a:defRPr>
            </a:pPr>
            <a:r>
              <a:t>กำหนดขั้นตอนเป็นลำดับเชิงโครงสร้าง ตั้งแต่วางแผน วิเคราะห์ ออกแบบ พัฒนา ทดสอบ จนถึงติดตั้งใช้งาน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55648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Leelawadee UI"/>
              </a:defRPr>
            </a:pPr>
            <a:r>
              <a:t>Laravel Framework (MVC) </a:t>
            </a:r>
            <a:r>
              <a:rPr sz="1100" b="0">
                <a:solidFill>
                  <a:srgbClr val="E87722"/>
                </a:solidFill>
              </a:rPr>
              <a:t>(สถาปัตยกรรมซอฟต์แวร์)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Leelawadee UI"/>
              </a:defRPr>
            </a:pPr>
            <a:r>
              <a:t>แยกส่วนข้อมูล (Model), แสดงผล (View) และควบคุม (Controller) ป้องกัน SQL Injection และ CSRF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2120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10128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Leelawadee UI"/>
              </a:defRPr>
            </a:pPr>
            <a:r>
              <a:t>MySQL Database </a:t>
            </a:r>
            <a:r>
              <a:rPr sz="1100" b="0">
                <a:solidFill>
                  <a:srgbClr val="E87722"/>
                </a:solidFill>
              </a:rPr>
              <a:t>(ระบบจัดการฐานข้อมูลเชิงสัมพันธ์)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Leelawadee UI"/>
              </a:defRPr>
            </a:pPr>
            <a:r>
              <a:t>จัดเก็บข้อมูลเชิงสัมพันธ์ 15 ตารางหลัก มีการทำ Indexing และ Foreign Key เพื่อความสมบูรณ์ของข้อมูล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0400"/>
            <a:ext cx="52120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310128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Leelawadee UI"/>
              </a:defRPr>
            </a:pPr>
            <a:r>
              <a:t>งานวิจัย: ระบบบริหารพฤติกรรมดิจิทัล </a:t>
            </a:r>
            <a:r>
              <a:rPr sz="1100" b="0">
                <a:solidFill>
                  <a:srgbClr val="E87722"/>
                </a:solidFill>
              </a:rPr>
              <a:t>(การประยุกต์ใช้ในโครงงาน)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Leelawadee UI"/>
              </a:defRPr>
            </a:pPr>
            <a:r>
              <a:t>นำแนวคิดการจัดหมวดหมู่ข้อระเบียบ (บวก/ลบ) และระบบคัดกรองนักเรียนกลุ่มเสี่ยง (Risk Monitor) มาปรับใช้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2120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64608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Leelawadee UI"/>
              </a:defRPr>
            </a:pPr>
            <a:r>
              <a:t>งานวิจัย: การเช็คชื่อด้วย QR Code </a:t>
            </a:r>
            <a:r>
              <a:rPr sz="1100" b="0">
                <a:solidFill>
                  <a:srgbClr val="E87722"/>
                </a:solidFill>
              </a:rPr>
              <a:t>(การประยุกต์ใช้ในโครงงาน)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Leelawadee UI"/>
              </a:defRPr>
            </a:pPr>
            <a:r>
              <a:t>นำแนวคิดการสแกนรหัสภาพมาพัฒนาโมดูลสแกนละหมาดซุฮรี/อัศรี รวดเร็ว 1 วินาที/คน ป้องกันลงชื่อแทนกัน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754880"/>
            <a:ext cx="521208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864608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B365D"/>
                </a:solidFill>
                <a:latin typeface="Leelawadee UI"/>
              </a:defRPr>
            </a:pPr>
            <a:r>
              <a:t>งานวิจัย: การสื่อสารรร.กับผู้ปกครอง </a:t>
            </a:r>
            <a:r>
              <a:rPr sz="1100" b="0">
                <a:solidFill>
                  <a:srgbClr val="E87722"/>
                </a:solidFill>
              </a:rPr>
              <a:t>(การประยุกต์ใช้ในโครงงาน)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Leelawadee UI"/>
              </a:defRPr>
            </a:pPr>
            <a:r>
              <a:t>นำแนวคิดการมีส่วนร่วมของครอบครัวมาพัฒนาฟังก์ชันสลับดูข้อมูลบุตรหลานหลายคนและแชทกับครูที่ปรึกษ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87722"/>
                </a:solidFill>
                <a:latin typeface="Leelawadee UI"/>
              </a:defRPr>
            </a:pPr>
            <a:r>
              <a:t>บทที่ 3 : วิธีดำเนินการวิจัย</a:t>
            </a:r>
          </a:p>
          <a:p>
            <a:pPr>
              <a:defRPr sz="2200" b="1">
                <a:solidFill>
                  <a:srgbClr val="1B365D"/>
                </a:solidFill>
                <a:latin typeface="Leelawadee UI"/>
              </a:defRPr>
            </a:pPr>
            <a:r>
              <a:t>วิธีดำเนินการพัฒนาโครงงานตามวงจร SDLC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92608"/>
            <a:ext cx="1920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E87722"/>
                </a:solidFill>
                <a:latin typeface="Leelawadee UI"/>
              </a:defRPr>
            </a:pPr>
            <a:r>
              <a:t>⏱ 45–60 วิ</a:t>
            </a:r>
          </a:p>
          <a:p>
            <a:pPr algn="r">
              <a:defRPr sz="1000">
                <a:solidFill>
                  <a:srgbClr val="1B365D"/>
                </a:solidFill>
                <a:latin typeface="Leelawadee UI"/>
              </a:defRPr>
            </a:pPr>
            <a:r>
              <a:t>โรงเรียนศิริราษฎร์สามัคคี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Leelawadee UI"/>
              </a:defRPr>
            </a:pPr>
            <a:r>
              <a:t>1. การวางแผน (Planning)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Leelawadee UI"/>
              </a:defRPr>
            </a:pPr>
            <a:r>
              <a:t>• สำรวจสภาพแวดล้อม รร.ศิริราษฎร์สามัคคี</a:t>
            </a:r>
            <a:br/>
            <a:r>
              <a:t>• รวบรวมปัญหาการตัดคะแนนและเช็คชื่อ</a:t>
            </a:r>
            <a:br/>
            <a:r>
              <a:t>• กำหนดความเป็นไปได้และข้อเสนอโครงงาน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474720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Leelawadee UI"/>
              </a:defRPr>
            </a:pPr>
            <a:r>
              <a:t>2. การวิเคราะห์ (Analysis)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Leelawadee UI"/>
              </a:defRPr>
            </a:pPr>
            <a:r>
              <a:t>• วิเคราะห์ความต้องการผู้ใช้ 5 กลุ่ม</a:t>
            </a:r>
            <a:br/>
            <a:r>
              <a:t>• ออกแบบแผนภาพบริบท (Context Diagram)</a:t>
            </a:r>
            <a:br/>
            <a:r>
              <a:t>• จัดทำผังการไหลของข้อมูล (DFD Level 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7472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474720" cy="5029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Leelawadee UI"/>
              </a:defRPr>
            </a:pPr>
            <a:r>
              <a:t>3. การออกแบบ (Design)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Leelawadee UI"/>
              </a:defRPr>
            </a:pPr>
            <a:r>
              <a:t>• ออกแบบฐานข้อมูล ERD (15 ตารางหลัก)</a:t>
            </a:r>
            <a:br/>
            <a:r>
              <a:t>• ออกแบบส่วนติดต่อผู้ใช้ (UI/UX Mockups)</a:t>
            </a:r>
            <a:br/>
            <a:r>
              <a:t>• ออกแบบสถาปัตยกรรมระบบ 3 ระดับ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47472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347472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Leelawadee UI"/>
              </a:defRPr>
            </a:pPr>
            <a:r>
              <a:t>4. การพัฒนา (Development)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Leelawadee UI"/>
              </a:defRPr>
            </a:pPr>
            <a:r>
              <a:t>• พัฒนาด้วย Laravel, Blade, Tailwind</a:t>
            </a:r>
            <a:br/>
            <a:r>
              <a:t>• เขียนระบบสิทธิ์ความปลอดภัย RBAC 5 ระดับ</a:t>
            </a:r>
            <a:br/>
            <a:r>
              <a:t>• พัฒนาระบบสแกน QR Code เช็คชื่อละหมาด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47472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931920"/>
            <a:ext cx="347472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Leelawadee UI"/>
              </a:defRPr>
            </a:pPr>
            <a:r>
              <a:t>5. การทดสอบ (Testing)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526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Leelawadee UI"/>
              </a:defRPr>
            </a:pPr>
            <a:r>
              <a:t>• ทดสอบฟังก์ชันด้วย Black Box Testing</a:t>
            </a:r>
            <a:br/>
            <a:r>
              <a:t>• ทดสอบ 6 ด้าน รวม 15 กรณีทดสอบ</a:t>
            </a:r>
            <a:br/>
            <a:r>
              <a:t>• ปรับปรุงแก้ไขจุดบกพร่องของระบบ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347472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931920"/>
            <a:ext cx="347472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Leelawadee UI"/>
              </a:defRPr>
            </a:pPr>
            <a:r>
              <a:t>6. ติดตั้งและประเมิน (Deployment)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26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Leelawadee UI"/>
              </a:defRPr>
            </a:pPr>
            <a:r>
              <a:t>• ติดตั้งบนเซิร์ฟเวอร์จริง (site.yru.ac.th)</a:t>
            </a:r>
            <a:br/>
            <a:r>
              <a:t>• ทดลองใช้งานจริงในโรงเรียน</a:t>
            </a:r>
            <a:br/>
            <a:r>
              <a:t>• ประเมินคุณภาพระบบและจัดทำคู่มือ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87722"/>
                </a:solidFill>
                <a:latin typeface="Leelawadee UI"/>
              </a:defRPr>
            </a:pPr>
            <a:r>
              <a:t>บทที่ 4 : ผลการศึกษา</a:t>
            </a:r>
          </a:p>
          <a:p>
            <a:pPr>
              <a:defRPr sz="2200" b="1">
                <a:solidFill>
                  <a:srgbClr val="1B365D"/>
                </a:solidFill>
                <a:latin typeface="Leelawadee UI"/>
              </a:defRPr>
            </a:pPr>
            <a:r>
              <a:t>ผลการวิเคราะห์และออกแบบระบบ (DFD &amp; Architecture)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92608"/>
            <a:ext cx="1920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E87722"/>
                </a:solidFill>
                <a:latin typeface="Leelawadee UI"/>
              </a:defRPr>
            </a:pPr>
            <a:r>
              <a:t>⏱ 45–60 วิ</a:t>
            </a:r>
          </a:p>
          <a:p>
            <a:pPr algn="r">
              <a:defRPr sz="1000">
                <a:solidFill>
                  <a:srgbClr val="1B365D"/>
                </a:solidFill>
                <a:latin typeface="Leelawadee UI"/>
              </a:defRPr>
            </a:pPr>
            <a:r>
              <a:t>โรงเรียนศิริราษฎร์สามัคคี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1B365D"/>
                </a:solidFill>
                <a:latin typeface="Leelawadee UI"/>
              </a:defRPr>
            </a:pPr>
            <a:r>
              <a:t>🏛 สถาปัตยกรรมและฐานข้อมูล (Architecture)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Leelawadee UI"/>
              </a:defRPr>
            </a:pPr>
            <a:r>
              <a:t>• สถาปัตยกรรม 3 ระดับ (3-Tier Web Architecture): </a:t>
            </a:r>
            <a:r>
              <a:rPr b="0" sz="1100">
                <a:solidFill>
                  <a:srgbClr val="64748B"/>
                </a:solidFill>
              </a:rPr>
              <a:t>Presentation Layer (Blade/Tailwind) -&gt; Application Layer (Laravel MVC) -&gt; Data Layer (MySQL)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Leelawadee UI"/>
              </a:defRPr>
            </a:pPr>
            <a:r>
              <a:t>• โครงสร้างฐานข้อมูลเชิงสัมพันธ์ 15 ตาราง: </a:t>
            </a:r>
            <a:r>
              <a:rPr b="0" sz="1100">
                <a:solidFill>
                  <a:srgbClr val="64748B"/>
                </a:solidFill>
              </a:rPr>
              <a:t>เช่น users, students, behavior_records, attendances, prayer_records, appeals, informant_reports, messages ฯลฯ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Leelawadee UI"/>
              </a:defRPr>
            </a:pPr>
            <a:r>
              <a:t>• ระบบจัดการสิทธิ์ Role-Based Access (RBAC): </a:t>
            </a:r>
            <a:r>
              <a:rPr b="0" sz="1100">
                <a:solidFill>
                  <a:srgbClr val="64748B"/>
                </a:solidFill>
              </a:rPr>
              <a:t>แบ่งระดับสิทธิ์ 5 กลุ่มอย่างเด็ดขาด ป้องกันการเข้าถึงข้อมูลข้ามบทบาท</a:t>
            </a:r>
          </a:p>
          <a:p>
            <a:pPr>
              <a:spcAft>
                <a:spcPts val="600"/>
              </a:spcAft>
              <a:defRPr sz="1200" b="1">
                <a:solidFill>
                  <a:srgbClr val="1E293B"/>
                </a:solidFill>
                <a:latin typeface="Leelawadee UI"/>
              </a:defRPr>
            </a:pPr>
            <a:r>
              <a:t>• ความปลอดภัยระดับมาตรฐาน: </a:t>
            </a:r>
            <a:r>
              <a:rPr b="0" sz="1100">
                <a:solidFill>
                  <a:srgbClr val="64748B"/>
                </a:solidFill>
              </a:rPr>
              <a:t>เข้ารหัสรหัสผ่าน Bcrypt และป้องกัน SQL Injection อัตโนมัติด้วย Eloquent 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 b="1">
                <a:solidFill>
                  <a:srgbClr val="E87722"/>
                </a:solidFill>
                <a:latin typeface="Leelawadee UI"/>
              </a:defRPr>
            </a:pPr>
            <a:r>
              <a:t>🔄 ผังกระแสข้อมูล DFD Level 1 (8 กระบวนการหลัก)</a:t>
            </a:r>
          </a:p>
          <a:p>
            <a:pPr>
              <a:spcAft>
                <a:spcPts val="400"/>
              </a:spcAft>
              <a:defRPr sz="1150" b="1">
                <a:solidFill>
                  <a:srgbClr val="1E293B"/>
                </a:solidFill>
                <a:latin typeface="Leelawadee UI"/>
              </a:defRPr>
            </a:pPr>
            <a:r>
              <a:t>1.0 จัดการข้อมูลผู้ใช้และข้อมูลหลัก (D1-D4): </a:t>
            </a:r>
            <a:r>
              <a:rPr b="0" sz="1050">
                <a:solidFill>
                  <a:srgbClr val="64748B"/>
                </a:solidFill>
              </a:rPr>
              <a:t>จัดการบัญชีผู้ใช้ นร. ครู และผู้ปกครอง</a:t>
            </a:r>
          </a:p>
          <a:p>
            <a:pPr>
              <a:spcAft>
                <a:spcPts val="400"/>
              </a:spcAft>
              <a:defRPr sz="1150" b="1">
                <a:solidFill>
                  <a:srgbClr val="1E293B"/>
                </a:solidFill>
                <a:latin typeface="Leelawadee UI"/>
              </a:defRPr>
            </a:pPr>
            <a:r>
              <a:t>2.0 เช็กชื่อการเข้าแถวหน้าเสาธง (D5): </a:t>
            </a:r>
            <a:r>
              <a:rPr b="0" sz="1050">
                <a:solidFill>
                  <a:srgbClr val="64748B"/>
                </a:solidFill>
              </a:rPr>
              <a:t>บันทึกเวลาเรียน มา สาย ขาด ลา ประจำวัน</a:t>
            </a:r>
          </a:p>
          <a:p>
            <a:pPr>
              <a:spcAft>
                <a:spcPts val="400"/>
              </a:spcAft>
              <a:defRPr sz="1150" b="1">
                <a:solidFill>
                  <a:srgbClr val="1E293B"/>
                </a:solidFill>
                <a:latin typeface="Leelawadee UI"/>
              </a:defRPr>
            </a:pPr>
            <a:r>
              <a:t>3.0 จัดการคะแนนความประพฤติ (D6-D7): </a:t>
            </a:r>
            <a:r>
              <a:rPr b="0" sz="1050">
                <a:solidFill>
                  <a:srgbClr val="64748B"/>
                </a:solidFill>
              </a:rPr>
              <a:t>กำหนดเกณฑ์วินัย บันทึกตัด/เพิ่มคะแนน</a:t>
            </a:r>
          </a:p>
          <a:p>
            <a:pPr>
              <a:spcAft>
                <a:spcPts val="400"/>
              </a:spcAft>
              <a:defRPr sz="1150" b="1">
                <a:solidFill>
                  <a:srgbClr val="1E293B"/>
                </a:solidFill>
                <a:latin typeface="Leelawadee UI"/>
              </a:defRPr>
            </a:pPr>
            <a:r>
              <a:t>4.0 แจ้งและตรวจเบาะแสการทำผิด (D8): </a:t>
            </a:r>
            <a:r>
              <a:rPr b="0" sz="1050">
                <a:solidFill>
                  <a:srgbClr val="64748B"/>
                </a:solidFill>
              </a:rPr>
              <a:t>ตู้แดงออนไลน์ รับแจ้งพฤติกรรมไม่เหมาะสม</a:t>
            </a:r>
          </a:p>
          <a:p>
            <a:pPr>
              <a:spcAft>
                <a:spcPts val="400"/>
              </a:spcAft>
              <a:defRPr sz="1150" b="1">
                <a:solidFill>
                  <a:srgbClr val="1E293B"/>
                </a:solidFill>
                <a:latin typeface="Leelawadee UI"/>
              </a:defRPr>
            </a:pPr>
            <a:r>
              <a:t>5.0 ยื่นและพิจารณาคำร้องอุทธรณ์ (D9): </a:t>
            </a:r>
            <a:r>
              <a:rPr b="0" sz="1050">
                <a:solidFill>
                  <a:srgbClr val="64748B"/>
                </a:solidFill>
              </a:rPr>
              <a:t>ระบบขอคืนคะแนนเมื่อมีหลักฐาน/กิจกรรม</a:t>
            </a:r>
          </a:p>
          <a:p>
            <a:pPr>
              <a:spcAft>
                <a:spcPts val="400"/>
              </a:spcAft>
              <a:defRPr sz="1150" b="1">
                <a:solidFill>
                  <a:srgbClr val="1E293B"/>
                </a:solidFill>
                <a:latin typeface="Leelawadee UI"/>
              </a:defRPr>
            </a:pPr>
            <a:r>
              <a:t>6.0 บันทึกและติดตามผลการละหมาด (D10): </a:t>
            </a:r>
            <a:r>
              <a:rPr b="0" sz="1050">
                <a:solidFill>
                  <a:srgbClr val="64748B"/>
                </a:solidFill>
              </a:rPr>
              <a:t>สแกน QR Code ละหมาดซุฮรีและอัศรี</a:t>
            </a:r>
          </a:p>
          <a:p>
            <a:pPr>
              <a:spcAft>
                <a:spcPts val="400"/>
              </a:spcAft>
              <a:defRPr sz="1150" b="1">
                <a:solidFill>
                  <a:srgbClr val="1E293B"/>
                </a:solidFill>
                <a:latin typeface="Leelawadee UI"/>
              </a:defRPr>
            </a:pPr>
            <a:r>
              <a:t>7.0 ติดต่อสื่อสารและส่งข้อความ (D11): </a:t>
            </a:r>
            <a:r>
              <a:rPr b="0" sz="1050">
                <a:solidFill>
                  <a:srgbClr val="64748B"/>
                </a:solidFill>
              </a:rPr>
              <a:t>กล่องแชทสื่อสารระหว่างครูกับผู้ปกครอง</a:t>
            </a:r>
          </a:p>
          <a:p>
            <a:pPr>
              <a:spcAft>
                <a:spcPts val="400"/>
              </a:spcAft>
              <a:defRPr sz="1150" b="1">
                <a:solidFill>
                  <a:srgbClr val="1E293B"/>
                </a:solidFill>
                <a:latin typeface="Leelawadee UI"/>
              </a:defRPr>
            </a:pPr>
            <a:r>
              <a:t>8.0 รายงาน สถิติ และแดชบอร์ด: </a:t>
            </a:r>
            <a:r>
              <a:rPr b="0" sz="1050">
                <a:solidFill>
                  <a:srgbClr val="64748B"/>
                </a:solidFill>
              </a:rPr>
              <a:t>สรุปผลพฤติกรรมและส่งออก PDF/Excel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87722"/>
                </a:solidFill>
                <a:latin typeface="Leelawadee UI"/>
              </a:defRPr>
            </a:pPr>
            <a:r>
              <a:t>บทที่ 4 : ผลการศึกษา</a:t>
            </a:r>
          </a:p>
          <a:p>
            <a:pPr>
              <a:defRPr sz="2200" b="1">
                <a:solidFill>
                  <a:srgbClr val="1B365D"/>
                </a:solidFill>
                <a:latin typeface="Leelawadee UI"/>
              </a:defRPr>
            </a:pPr>
            <a:r>
              <a:t>ผลการพัฒนาระบบจริง (1/3) : ฝ่ายปกครอง &amp; ครูผู้สอน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92608"/>
            <a:ext cx="1920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E87722"/>
                </a:solidFill>
                <a:latin typeface="Leelawadee UI"/>
              </a:defRPr>
            </a:pPr>
            <a:r>
              <a:t>⏱ 1–1.5 นาที</a:t>
            </a:r>
          </a:p>
          <a:p>
            <a:pPr algn="r">
              <a:defRPr sz="1000">
                <a:solidFill>
                  <a:srgbClr val="1B365D"/>
                </a:solidFill>
                <a:latin typeface="Leelawadee UI"/>
              </a:defRPr>
            </a:pPr>
            <a:r>
              <a:t>โรงเรียนศิริราษฎร์สามัคคี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72768"/>
            <a:ext cx="5239512" cy="49194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691640"/>
            <a:ext cx="4910328" cy="31456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6112" y="4919472"/>
            <a:ext cx="491032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1B365D"/>
                </a:solidFill>
                <a:latin typeface="Leelawadee UI"/>
              </a:defRPr>
            </a:pPr>
            <a:r>
              <a:t>🎯 ระบบเฝ้าระวังนักเรียนกลุ่มเสี่ยง (Risk Students Monitor)</a:t>
            </a:r>
          </a:p>
          <a:p>
            <a:pPr>
              <a:defRPr sz="1050">
                <a:solidFill>
                  <a:srgbClr val="1E293B"/>
                </a:solidFill>
                <a:latin typeface="Leelawadee UI"/>
              </a:defRPr>
            </a:pPr>
            <a:r>
              <a:t>• ระบบทำอะไรได้: คัดกรองนักเรียนที่คะแนนต่ำกว่า 50 อัตโนมัติ พร้อมแจ้งเตือนสถานะความเสี่ยง</a:t>
            </a:r>
            <a:br/>
            <a:r>
              <a:t>• แก้ปัญหาเดิม: เดิมไม่ทราบว่าใครคะแนนวิกฤตจนสิ้นเทอม ระบบนี้ตรวจจับแบบเรียลไทม์เพื่อเรียกตักเตือนทันที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239512" cy="49194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691640"/>
            <a:ext cx="4910328" cy="31456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82512" y="4919472"/>
            <a:ext cx="491032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E87722"/>
                </a:solidFill>
                <a:latin typeface="Leelawadee UI"/>
              </a:defRPr>
            </a:pPr>
            <a:r>
              <a:t>🎯 เครื่องสแกน QR Code เช็คชื่อละหมาดและเข้าแถว</a:t>
            </a:r>
          </a:p>
          <a:p>
            <a:pPr>
              <a:defRPr sz="1050">
                <a:solidFill>
                  <a:srgbClr val="1E293B"/>
                </a:solidFill>
                <a:latin typeface="Leelawadee UI"/>
              </a:defRPr>
            </a:pPr>
            <a:r>
              <a:t>• ระบบทำอะไรได้: ครูใช้กล้องมือถือหรือเครื่องยิงบาร์โค้ด สแกนบัตร นร. เช็คชื่อซุฮรี/อัศรี รวดเร็ว 1 วิ/คน</a:t>
            </a:r>
            <a:br/>
            <a:r>
              <a:t>• แก้ปัญหาเดิม: ขานชื่อด้วยกระดาษล่าช้าและลงชื่อแทนกัน ระบบนี้ยืนยันตัวตนด้วย QR พร้อมเสียงปี๊บตอบรับ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87722"/>
                </a:solidFill>
                <a:latin typeface="Leelawadee UI"/>
              </a:defRPr>
            </a:pPr>
            <a:r>
              <a:t>บทที่ 4 : ผลการศึกษา</a:t>
            </a:r>
          </a:p>
          <a:p>
            <a:pPr>
              <a:defRPr sz="2200" b="1">
                <a:solidFill>
                  <a:srgbClr val="1B365D"/>
                </a:solidFill>
                <a:latin typeface="Leelawadee UI"/>
              </a:defRPr>
            </a:pPr>
            <a:r>
              <a:t>ผลการพัฒนาระบบจริง (2/3) : นักเรียน &amp; ผู้ปกครอง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92608"/>
            <a:ext cx="1920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E87722"/>
                </a:solidFill>
                <a:latin typeface="Leelawadee UI"/>
              </a:defRPr>
            </a:pPr>
            <a:r>
              <a:t>⏱ 1–1.5 นาที</a:t>
            </a:r>
          </a:p>
          <a:p>
            <a:pPr algn="r">
              <a:defRPr sz="1000">
                <a:solidFill>
                  <a:srgbClr val="1B365D"/>
                </a:solidFill>
                <a:latin typeface="Leelawadee UI"/>
              </a:defRPr>
            </a:pPr>
            <a:r>
              <a:t>โรงเรียนศิริราษฎร์สามัคคี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72768"/>
            <a:ext cx="5239512" cy="49194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691640"/>
            <a:ext cx="4910328" cy="31456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6112" y="4919472"/>
            <a:ext cx="491032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1B365D"/>
                </a:solidFill>
                <a:latin typeface="Leelawadee UI"/>
              </a:defRPr>
            </a:pPr>
            <a:r>
              <a:t>🎯 แดชบอร์ดนักเรียน (Student Dashboard &amp; ID Card)</a:t>
            </a:r>
          </a:p>
          <a:p>
            <a:pPr>
              <a:defRPr sz="1050">
                <a:solidFill>
                  <a:srgbClr val="1E293B"/>
                </a:solidFill>
                <a:latin typeface="Leelawadee UI"/>
              </a:defRPr>
            </a:pPr>
            <a:r>
              <a:t>• ระบบทำอะไรได้: ดูคะแนนคงเหลือ (เริ่มต้น 100), ประวัติเข้าแถว, บัตร QR ละหมาด และยื่นคำร้องอุทธรณ์</a:t>
            </a:r>
            <a:br/>
            <a:r>
              <a:t>• แก้ปัญหาเดิม: นักเรียนไม่ทราบคะแนนตนเองและไม่มีช่องทางชี้แจงความบริสุทธิ์ ระบบนี้เพิ่มความโปร่งใส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239512" cy="49194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691640"/>
            <a:ext cx="4910328" cy="31456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82512" y="4919472"/>
            <a:ext cx="491032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E87722"/>
                </a:solidFill>
                <a:latin typeface="Leelawadee UI"/>
              </a:defRPr>
            </a:pPr>
            <a:r>
              <a:t>🎯 แดชบอร์ดผู้ปกครอง พร้อมปุ่ม [สลับดูบุตรหลาน]</a:t>
            </a:r>
          </a:p>
          <a:p>
            <a:pPr>
              <a:defRPr sz="1050">
                <a:solidFill>
                  <a:srgbClr val="1E293B"/>
                </a:solidFill>
                <a:latin typeface="Leelawadee UI"/>
              </a:defRPr>
            </a:pPr>
            <a:r>
              <a:t>• ระบบทำอะไรได้: มีปุ่มสลับดูบุตรหลานแต่ละคนในบัญชีเดียว ตรวจดูคะแนน เวลาเรียน และแชทหาครู</a:t>
            </a:r>
            <a:br/>
            <a:r>
              <a:t>• แก้ปัญหาเดิม: ผู้ปกครองที่มีลูกหลายคนไม่ต้องสลับหลายบัญชี ได้รับทราบพฤติกรรมทันทีจากที่บ้าน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87722"/>
                </a:solidFill>
                <a:latin typeface="Leelawadee UI"/>
              </a:defRPr>
            </a:pPr>
            <a:r>
              <a:t>บทที่ 4 : ผลการศึกษา</a:t>
            </a:r>
          </a:p>
          <a:p>
            <a:pPr>
              <a:defRPr sz="2200" b="1">
                <a:solidFill>
                  <a:srgbClr val="1B365D"/>
                </a:solidFill>
                <a:latin typeface="Leelawadee UI"/>
              </a:defRPr>
            </a:pPr>
            <a:r>
              <a:t>ผลการพัฒนาระบบจริง (3/3) : การอนุมัติและรายงานสรุป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92608"/>
            <a:ext cx="1920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E87722"/>
                </a:solidFill>
                <a:latin typeface="Leelawadee UI"/>
              </a:defRPr>
            </a:pPr>
            <a:r>
              <a:t>⏱ 45–60 วิ</a:t>
            </a:r>
          </a:p>
          <a:p>
            <a:pPr algn="r">
              <a:defRPr sz="1000">
                <a:solidFill>
                  <a:srgbClr val="1B365D"/>
                </a:solidFill>
                <a:latin typeface="Leelawadee UI"/>
              </a:defRPr>
            </a:pPr>
            <a:r>
              <a:t>โรงเรียนศิริราษฎร์สามัคคี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72768"/>
            <a:ext cx="5239512" cy="49194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691640"/>
            <a:ext cx="4910328" cy="31456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6112" y="4919472"/>
            <a:ext cx="491032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1B365D"/>
                </a:solidFill>
                <a:latin typeface="Leelawadee UI"/>
              </a:defRPr>
            </a:pPr>
            <a:r>
              <a:t>🎯 ระบบตรวจสอบและอนุมัติการตัดคะแนนพฤติกรรม</a:t>
            </a:r>
          </a:p>
          <a:p>
            <a:pPr>
              <a:defRPr sz="1050">
                <a:solidFill>
                  <a:srgbClr val="1E293B"/>
                </a:solidFill>
                <a:latin typeface="Leelawadee UI"/>
              </a:defRPr>
            </a:pPr>
            <a:r>
              <a:t>• ระบบทำอะไรได้: ครูส่งเรื่องพร้อมรูปหลักฐาน ฝ่ายปกครองตรวจความถูกต้องก่อนกด [อนุมัติ] หรือ [ปฏิเสธ]</a:t>
            </a:r>
            <a:br/>
            <a:r>
              <a:t>• แก้ปัญหาเดิม: ป้องกันการตัดคะแนนผิดคน หรือการกลั่นแกล้ง ทุกการตัดคะแนนมีรูปหลักฐานยืนยันชัดเจน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239512" cy="49194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691640"/>
            <a:ext cx="4910328" cy="31456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82512" y="4919472"/>
            <a:ext cx="491032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E87722"/>
                </a:solidFill>
                <a:latin typeface="Leelawadee UI"/>
              </a:defRPr>
            </a:pPr>
            <a:r>
              <a:t>🎯 หน้ารายงานสรุปพฤติกรรมและการส่งออกข้อมูล</a:t>
            </a:r>
          </a:p>
          <a:p>
            <a:pPr>
              <a:defRPr sz="1050">
                <a:solidFill>
                  <a:srgbClr val="1E293B"/>
                </a:solidFill>
                <a:latin typeface="Leelawadee UI"/>
              </a:defRPr>
            </a:pPr>
            <a:r>
              <a:t>• ระบบทำอะไรได้: ประมวลผลสถิติพฤติกรรมรายชั้นเรียน/ห้องเรียน ส่งออกเป็นไฟล์ PDF และ Excel ได้ทันที</a:t>
            </a:r>
            <a:br/>
            <a:r>
              <a:t>• แก้ปัญหาเดิม: เดิมต้องใช้เวลาหลายวันรวมคะแนนจากสมุด ระบบนี้สรุปผลคะแนนเฉลี่ยอัตโนมัติในคลิกเดียว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87722"/>
                </a:solidFill>
                <a:latin typeface="Leelawadee UI"/>
              </a:defRPr>
            </a:pPr>
            <a:r>
              <a:t>บทที่ 4 : ผลการศึกษา</a:t>
            </a:r>
          </a:p>
          <a:p>
            <a:pPr>
              <a:defRPr sz="2200" b="1">
                <a:solidFill>
                  <a:srgbClr val="1B365D"/>
                </a:solidFill>
                <a:latin typeface="Leelawadee UI"/>
              </a:defRPr>
            </a:pPr>
            <a:r>
              <a:t>ผลการทดสอบระบบ (Black Box Testing)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92608"/>
            <a:ext cx="1920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E87722"/>
                </a:solidFill>
                <a:latin typeface="Leelawadee UI"/>
              </a:defRPr>
            </a:pPr>
            <a:r>
              <a:t>⏱ 45–60 วิ</a:t>
            </a:r>
          </a:p>
          <a:p>
            <a:pPr algn="r">
              <a:defRPr sz="1000">
                <a:solidFill>
                  <a:srgbClr val="1B365D"/>
                </a:solidFill>
                <a:latin typeface="Leelawadee UI"/>
              </a:defRPr>
            </a:pPr>
            <a:r>
              <a:t>โรงเรียนศิริราษฎร์สามัคคี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1323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280160"/>
                <a:gridCol w="128016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Leelawadee UI"/>
                        </a:defRPr>
                      </a:pPr>
                      <a:r>
                        <a:t>ฟังก์ชันทดสอบ (Test Scope)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Leelawadee UI"/>
                        </a:defRPr>
                      </a:pPr>
                      <a:r>
                        <a:t>จำนวนข้อ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Leelawadee UI"/>
                        </a:defRPr>
                      </a:pPr>
                      <a:r>
                        <a:t>ร้อยละ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Leelawadee UI"/>
                        </a:defRPr>
                      </a:pPr>
                      <a:r>
                        <a:t>ผลการทดสอบ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1. การเข้าสู่ระบบ (Login)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3 ข้อ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ผ่าน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2. การจัดการข้อมูล (Data Management)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2 ข้อ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50.00%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DC2626"/>
                          </a:solidFill>
                          <a:latin typeface="Leelawadee UI"/>
                        </a:defRPr>
                      </a:pPr>
                      <a:r>
                        <a:t>ไม่ผ่าน 1 ข้อ*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3. การประมวลผลและการเชื่อมโยงข้อมูล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3 ข้อ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ผ่าน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4. การค้นหาและการรายงาน (Search &amp; Report)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3 ข้อ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66.67%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DC2626"/>
                          </a:solidFill>
                          <a:latin typeface="Leelawadee UI"/>
                        </a:defRPr>
                      </a:pPr>
                      <a:r>
                        <a:t>ไม่ผ่าน 1 ข้อ*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5. การกำหนดสิทธิ์ผู้ใช้และความปลอดภัย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2 ข้อ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ผ่าน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6. การออกจากระบบ (Logout)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2 ข้อ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ผ่าน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B365D"/>
                          </a:solidFill>
                          <a:latin typeface="Leelawadee UI"/>
                        </a:defRPr>
                      </a:pPr>
                      <a:r>
                        <a:t>ผลรวมภาพรวม (Overall Summary)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B365D"/>
                          </a:solidFill>
                          <a:latin typeface="Leelawadee UI"/>
                        </a:defRPr>
                      </a:pPr>
                      <a:r>
                        <a:t>15 ข้อ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B365D"/>
                          </a:solidFill>
                          <a:latin typeface="Leelawadee UI"/>
                        </a:defRPr>
                      </a:pPr>
                      <a:r>
                        <a:t>86.67%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6A34A"/>
                          </a:solidFill>
                          <a:latin typeface="Leelawadee UI"/>
                        </a:defRPr>
                      </a:pPr>
                      <a:r>
                        <a:t>ผ่านเกณฑ์ ✅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B365D"/>
                </a:solidFill>
                <a:latin typeface="Leelawadee UI"/>
              </a:defRPr>
            </a:pPr>
            <a:r>
              <a:t>📊 การคำนวณผลการทดสอบ</a:t>
            </a:r>
          </a:p>
          <a:p>
            <a:pPr>
              <a:spcAft>
                <a:spcPts val="1200"/>
              </a:spcAft>
              <a:defRPr sz="1200" b="1">
                <a:solidFill>
                  <a:srgbClr val="E87722"/>
                </a:solidFill>
                <a:latin typeface="Leelawadee UI"/>
              </a:defRPr>
            </a:pPr>
            <a:r>
              <a:t>สูตรหาร้อยละผลการทดสอบ:</a:t>
            </a:r>
            <a:br/>
            <a:r>
              <a:t>= (กรณีที่ผ่าน ÷ ทั้งหมด) × 100</a:t>
            </a:r>
            <a:br/>
            <a:r>
              <a:t>= (13 ÷ 15) × 100</a:t>
            </a:r>
            <a:br/>
            <a:r>
              <a:t>= 86.67%</a:t>
            </a:r>
          </a:p>
          <a:p>
            <a:pPr>
              <a:defRPr sz="1100">
                <a:solidFill>
                  <a:srgbClr val="64748B"/>
                </a:solidFill>
                <a:latin typeface="Leelawadee UI"/>
              </a:defRPr>
            </a:pPr>
            <a:r>
              <a:t>เกณฑ์การผ่านภาพรวม:</a:t>
            </a:r>
            <a:br/>
            <a:r>
              <a:t>กำหนดเกณฑ์ผ่านไม่น้อยกว่า 85.00%</a:t>
            </a:r>
            <a:br/>
            <a:br/>
            <a:r>
              <a:t>สรุปผล: ระบบได้ร้อยละ 86.67% ซึ่ง 'ผ่านเกณฑ์มาตรฐาน'</a:t>
            </a:r>
            <a:br/>
            <a:br/>
            <a:r>
              <a:t>*หมายเหตุ: ข้อที่ไม่ผ่านในรอบแรกได้รับการแก้ไขปรับปรุงสมบูรณ์แล้วในการทดสอบรอบถัดไป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87722"/>
                </a:solidFill>
                <a:latin typeface="Leelawadee UI"/>
              </a:defRPr>
            </a:pPr>
            <a:r>
              <a:t>บทที่ 4 : ผลการศึกษา</a:t>
            </a:r>
          </a:p>
          <a:p>
            <a:pPr>
              <a:defRPr sz="2200" b="1">
                <a:solidFill>
                  <a:srgbClr val="1B365D"/>
                </a:solidFill>
                <a:latin typeface="Leelawadee UI"/>
              </a:defRPr>
            </a:pPr>
            <a:r>
              <a:t>ผลการประเมินคุณภาพระบบโดยผู้เชี่ยวชาญ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92608"/>
            <a:ext cx="1920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E87722"/>
                </a:solidFill>
                <a:latin typeface="Leelawadee UI"/>
              </a:defRPr>
            </a:pPr>
            <a:r>
              <a:t>⏱ 45–60 วิ</a:t>
            </a:r>
          </a:p>
          <a:p>
            <a:pPr algn="r">
              <a:defRPr sz="1000">
                <a:solidFill>
                  <a:srgbClr val="1B365D"/>
                </a:solidFill>
                <a:latin typeface="Leelawadee UI"/>
              </a:defRPr>
            </a:pPr>
            <a:r>
              <a:t>โรงเรียนศิริราษฎร์สามัคคี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1323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280160"/>
                <a:gridCol w="128016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Leelawadee UI"/>
                        </a:defRPr>
                      </a:pPr>
                      <a:r>
                        <a:t>รายการประเมิน (Evaluation Items)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Leelawadee UI"/>
                        </a:defRPr>
                      </a:pPr>
                      <a:r>
                        <a:t>ค่าเฉลี่ย (x̄)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Leelawadee UI"/>
                        </a:defRPr>
                      </a:pPr>
                      <a:r>
                        <a:t>S.D.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Leelawadee UI"/>
                        </a:defRPr>
                      </a:pPr>
                      <a:r>
                        <a:t>ระดับคุณภาพ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1. ด้านความถูกต้องของระบบ (Functionality)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4.52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0.51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A34A"/>
                          </a:solidFill>
                          <a:latin typeface="Leelawadee UI"/>
                        </a:defRPr>
                      </a:pPr>
                      <a:r>
                        <a:t>มากที่สุด 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2. ด้านความปลอดภัยของข้อมูล (Security)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4.45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0.52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มาก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3. ด้านการนำไปใช้ประโยชน์ (Usability)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4.40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มาก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4. ด้านการออกแบบส่วนติดต่อผู้ใช้ (UI/UX)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4.38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0.54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93B"/>
                          </a:solidFill>
                          <a:latin typeface="Leelawadee UI"/>
                        </a:defRPr>
                      </a:pPr>
                      <a:r>
                        <a:t>มาก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B365D"/>
                          </a:solidFill>
                          <a:latin typeface="Leelawadee UI"/>
                        </a:defRPr>
                      </a:pPr>
                      <a:r>
                        <a:t>รวมเฉลี่ยทุกด้าน (Overall Mean)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7722"/>
                          </a:solidFill>
                          <a:latin typeface="Leelawadee UI"/>
                        </a:defRPr>
                      </a:pPr>
                      <a:r>
                        <a:t>4.44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7722"/>
                          </a:solidFill>
                          <a:latin typeface="Leelawadee UI"/>
                        </a:defRPr>
                      </a:pPr>
                      <a:r>
                        <a:t>0.52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7722"/>
                          </a:solidFill>
                          <a:latin typeface="Leelawadee UI"/>
                        </a:defRPr>
                      </a:pPr>
                      <a:r>
                        <a:t>ระดับ มาก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12064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  <a:latin typeface="Leelawadee UI"/>
              </a:defRPr>
            </a:pPr>
            <a:r>
              <a:t>💬 ข้อสรุปการประเมิน:</a:t>
            </a:r>
          </a:p>
          <a:p>
            <a:pPr>
              <a:defRPr sz="1150" i="1">
                <a:solidFill>
                  <a:srgbClr val="64748B"/>
                </a:solidFill>
                <a:latin typeface="Leelawadee UI"/>
              </a:defRPr>
            </a:pPr>
            <a:r>
              <a:t>“ผลการประเมินคุณภาพระบบโดยผู้เชี่ยวชาญโดยรวมมีค่าเฉลี่ย 4.44 อยู่ในระดับ 'มาก' แสดงว่าระบบสามารถทำงานได้ตามวัตถุประสงค์ที่กำหนดไว้ โดยด้านความถูกต้องได้รับคะแนนสูงสุดที่ 4.52 (ระดับมากที่สุด)”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Leelawadee UI"/>
              </a:defRPr>
            </a:pPr>
            <a:r>
              <a:t>⭐ ผลการประเมินภาพรวม</a:t>
            </a:r>
          </a:p>
          <a:p>
            <a:pPr algn="ctr">
              <a:spcAft>
                <a:spcPts val="200"/>
              </a:spcAft>
              <a:defRPr sz="2800" b="1">
                <a:solidFill>
                  <a:srgbClr val="E87722"/>
                </a:solidFill>
                <a:latin typeface="Leelawadee UI"/>
              </a:defRPr>
            </a:pPr>
            <a:r>
              <a:t>4.44 / 5.00</a:t>
            </a:r>
          </a:p>
          <a:p>
            <a:pPr algn="ctr">
              <a:spcAft>
                <a:spcPts val="1200"/>
              </a:spcAft>
              <a:defRPr sz="1400" b="1">
                <a:solidFill>
                  <a:srgbClr val="1B365D"/>
                </a:solidFill>
                <a:latin typeface="Leelawadee UI"/>
              </a:defRPr>
            </a:pPr>
            <a:r>
              <a:t>ระดับคุณภาพ: มาก</a:t>
            </a:r>
          </a:p>
          <a:p>
            <a:pPr>
              <a:defRPr sz="1050">
                <a:solidFill>
                  <a:srgbClr val="64748B"/>
                </a:solidFill>
                <a:latin typeface="Leelawadee UI"/>
              </a:defRPr>
            </a:pPr>
            <a:r>
              <a:t>เกณฑ์การแปลผล (Likert Scale):</a:t>
            </a:r>
            <a:br/>
            <a:r>
              <a:t>• 4.51 - 5.00 = มากที่สุด</a:t>
            </a:r>
            <a:br/>
            <a:r>
              <a:t>• 3.51 - 4.50 = มาก</a:t>
            </a:r>
            <a:br/>
            <a:r>
              <a:t>• 2.51 - 3.50 = ปานกลาง</a:t>
            </a:r>
            <a:br/>
            <a:r>
              <a:t>• 1.51 - 2.50 = น้อย</a:t>
            </a:r>
            <a:br/>
            <a:r>
              <a:t>• 1.00 - 1.50 = น้อยที่สุด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778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87722"/>
                </a:solidFill>
                <a:latin typeface="Leelawadee UI"/>
              </a:defRPr>
            </a:pPr>
            <a:r>
              <a:t>บทที่ 5 : สรุป อภิปราย และข้อเสนอแนะ</a:t>
            </a:r>
          </a:p>
          <a:p>
            <a:pPr>
              <a:defRPr sz="2200" b="1">
                <a:solidFill>
                  <a:srgbClr val="1B365D"/>
                </a:solidFill>
                <a:latin typeface="Leelawadee UI"/>
              </a:defRPr>
            </a:pPr>
            <a:r>
              <a:t>สรุปผล อภิปรายผล และข้อเสนอแนะ (Conclusion)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92608"/>
            <a:ext cx="19202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50" b="1">
                <a:solidFill>
                  <a:srgbClr val="E87722"/>
                </a:solidFill>
                <a:latin typeface="Leelawadee UI"/>
              </a:defRPr>
            </a:pPr>
            <a:r>
              <a:t>⏱ 45–60 วิ</a:t>
            </a:r>
          </a:p>
          <a:p>
            <a:pPr algn="r">
              <a:defRPr sz="1000">
                <a:solidFill>
                  <a:srgbClr val="1B365D"/>
                </a:solidFill>
                <a:latin typeface="Leelawadee UI"/>
              </a:defRPr>
            </a:pPr>
            <a:r>
              <a:t>โรงเรียนศิริราษฎร์สามัคคี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Leelawadee UI"/>
              </a:defRPr>
            </a:pPr>
            <a:r>
              <a:t>📌 สรุปผลการวิจัย (Conclusion)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Leelawadee UI"/>
              </a:defRPr>
            </a:pPr>
            <a:r>
              <a:t>• พัฒนาระบบสำเร็จตรงตามวัตถุประสงค์ รองรับ 5 บทบาท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Leelawadee UI"/>
              </a:defRPr>
            </a:pPr>
            <a:r>
              <a:t>• จัดการงานวินัย เช็คชื่อเข้าแถว และสแกนละหมาดได้รวดเร็ว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Leelawadee UI"/>
              </a:defRPr>
            </a:pPr>
            <a:r>
              <a:t>• ช่วยให้โรงเรียนศิริราษฎร์สามัคคีเปลี่ยนผ่านสู่ระบบดิจิทัลอย่างสมบูรณ์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47472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Leelawadee UI"/>
              </a:defRPr>
            </a:pPr>
            <a:r>
              <a:t>💡 อภิปรายผล (Discussion)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Leelawadee UI"/>
              </a:defRPr>
            </a:pPr>
            <a:r>
              <a:t>• ลดระยะเวลาค้นหาประวัติคะแนนของฝ่ายปกครองได้มากกว่า 70%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Leelawadee UI"/>
              </a:defRPr>
            </a:pPr>
            <a:r>
              <a:t>• เพิ่มการมีส่วนร่วมของผู้ปกครองในการติดตามบุตรหลานแบบเรียลไทม์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Leelawadee UI"/>
              </a:defRPr>
            </a:pPr>
            <a:r>
              <a:t>• ผลวิจัยสอดคล้องกับงานวิจัยที่เกี่ยวข้องด้านระบบติดตามพฤติกรรมออนไลน์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747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474720" cy="7315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Leelawadee UI"/>
              </a:defRPr>
            </a:pPr>
            <a:r>
              <a:t>🚀 ข้อเสนอแนะเพื่อต่อยอด (Future Work)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Leelawadee UI"/>
              </a:defRPr>
            </a:pPr>
            <a:r>
              <a:t>• พัฒนาต่อยอดเป็น Native Mobile App (iOS / Android)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Leelawadee UI"/>
              </a:defRPr>
            </a:pPr>
            <a:r>
              <a:t>• เชื่อมต่อระบบแจ้งเตือนอัตโนมัติผ่าน LINE Official Account / SMS</a:t>
            </a:r>
          </a:p>
          <a:p>
            <a:pPr>
              <a:spcAft>
                <a:spcPts val="1000"/>
              </a:spcAft>
              <a:defRPr sz="1200">
                <a:solidFill>
                  <a:srgbClr val="1E293B"/>
                </a:solidFill>
                <a:latin typeface="Leelawadee UI"/>
              </a:defRPr>
            </a:pPr>
            <a:r>
              <a:t>• ประยุกต์ใช้ AI / Machine Learning วิเคราะห์แนวโน้มพฤติกรรมกลุ่มเสี่ยง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280160"/>
            <a:ext cx="85340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E87722"/>
                </a:solidFill>
                <a:latin typeface="Leelawadee UI"/>
              </a:defRPr>
            </a:pPr>
            <a:r>
              <a:t>THANK YOU</a:t>
            </a:r>
          </a:p>
          <a:p>
            <a:pPr algn="ctr">
              <a:spcAft>
                <a:spcPts val="800"/>
              </a:spcAft>
              <a:defRPr sz="2800" b="1">
                <a:solidFill>
                  <a:srgbClr val="1B365D"/>
                </a:solidFill>
                <a:latin typeface="Leelawadee UI"/>
              </a:defRPr>
            </a:pPr>
            <a:r>
              <a:t>ขอขอบพระคุณคณะกรรมการทุกท่าน</a:t>
            </a:r>
          </a:p>
          <a:p>
            <a:pPr algn="ctr">
              <a:spcAft>
                <a:spcPts val="2000"/>
              </a:spcAft>
              <a:defRPr sz="1400">
                <a:solidFill>
                  <a:srgbClr val="64748B"/>
                </a:solidFill>
                <a:latin typeface="Leelawadee UI"/>
              </a:defRPr>
            </a:pPr>
            <a:r>
              <a:t>ระบบสารสนเทศการบริหารงานวินัยและติดตามพฤติกรรมนักเรียน</a:t>
            </a:r>
            <a:br/>
            <a:r>
              <a:t>กรณีศึกษา โรงเรียนศิริราษฎร์สามัคคี จังหวัดปัตตานี</a:t>
            </a:r>
          </a:p>
          <a:p>
            <a:pPr algn="ctr">
              <a:spcAft>
                <a:spcPts val="1400"/>
              </a:spcAft>
              <a:defRPr sz="2000" b="1">
                <a:solidFill>
                  <a:srgbClr val="E87722"/>
                </a:solidFill>
                <a:latin typeface="Leelawadee UI"/>
              </a:defRPr>
            </a:pPr>
            <a:r>
              <a:t>❓ คำถาม ข้อเสนอแนะ และข้อซักถาม (Q &amp; A)</a:t>
            </a:r>
          </a:p>
          <a:p>
            <a:pPr algn="ctr">
              <a:defRPr sz="1200">
                <a:solidFill>
                  <a:srgbClr val="1E293B"/>
                </a:solidFill>
                <a:latin typeface="Leelawadee UI"/>
              </a:defRPr>
            </a:pPr>
            <a:r>
              <a:t>ผู้จัดทำ: นายตอริก ลือแม &amp; นายบุสริน มูซอ</a:t>
            </a:r>
            <a:br/>
            <a:r>
              <a:t>สาขาวิชาเทคโนโลยีสารสนเทศ คณะวิทยาศาสตร์เทคโนโลยีและการเกษตร มหาวิทยาลัยราชภัฏยะลา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