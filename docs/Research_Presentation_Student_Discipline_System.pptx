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สวัสดีคณะกรรมการและผู้ฟังทุกท่าน วันนี้นำเสนอโครงงานวิจัยเรื่องระบบสารสนเทศการบริหารงานวินัยและติดตามพฤติกรรมนักเรียน กรณีศึกษาโรงเรียนศิริราษฎร์สามัคคี จังหวัดปัตตานี โดยผู้วิจัยนายตอริก ลือแมะ และนายบุสริน มูซอ ภายใต้คำปรึกษาของอาจารย์แพรวศรี เดิมราช และอาจารย์รุสนี กาแมแล (ชื่อภาษาอังกฤษ: Information System Discipline and Monitoring Student Behavior)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แนะนำทีมผู้วิจัยและอาจารย์ที่ปรึกษาก่อนเข้าสู่เนื้อหา ทั้งสองท่านสังกัดสาขาวิชาเทคโนโลยีสารสนเทศ คณะวิทยาศาสตร์ เทคโนโลยีและการเกษตร มหาวิทยาลัยราชภัฏยะลา — ใส่รูปถ่ายจริงโดยคลิกขวาที่วงกลมแล้วเลือกเปลี่ยนรูปภาพ รูปจะคงตำแหน่งและขนาดเดิม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งานวินัยเดิมพึ่งพาการจดลงกระดาษ ข้อมูลแยกหลายที่ ค้นประวัติย้อนหลังยาก สรุปผลช้า ผู้ปกครองรับรู้ช้า และการติดตามกิจกรรมล้างโทษตรวจสอบไม่ทั่วถึง จึงพัฒนาเว็บแอปพลิเคชันที่ใช้ฐานข้อมูลกลาง บันทึกพฤติกรรมบวก-ลบ คำนวณคะแนนอัตโนมัติ คัดกรองนักเรียนกลุ่มเสี่ยง และให้ผู้ปกครองติดตามได้ทันที (ที่มา: รายงานวิจัย หัวข้อ 1.1)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 3 ข้อ ข้อแรก วิเคราะห์ ออกแบบ และพัฒนาระบบสารสนเทศการบริหารงานวินัยและติดตามพฤติกรรมนักเรียน กรณีศึกษาโรงเรียนศิริราษฎร์สามัคคี จังหวัดปัตตานี ข้อที่สอง ประเมินคุณภาพระบบโดยผู้เชี่ยวชาญด้านเทคโนโลยีสารสนเทศ 3 คน และข้อที่สาม ประเมินความพึงพอใจของผู้ใช้งานจริง 30 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ระบบรองรับผู้ใช้ 5 กลุ่ม ได้แก่ ผู้ดูแลระบบ ฝ่ายปกครอง ครูที่ปรึกษา นักเรียน และผู้ปกครอง กลุ่มตัวอย่าง 30 คน (นักเรียน ผู้ปกครอง ฝ่ายปกครอง ครูประจำชั้น) เลือกแบบเจาะจง ฟังก์ชันหลัก: บันทึกพฤติกรรมพร้อมหลักฐานและส่งอนุมัติ คำนวณคะแนนจาก 100 คะแนนแบบทันที ยื่นอุทธรณ์โต้แย้ง เช็คชื่อเข้าแถวรายวัน เช็คชื่อละหมาดซุฮรี/อัศรีด้วย QR และพอร์ทัลผู้ปกครองที่สลับดูบุตรหลานได้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เครื่องมือหลักคือ Visual Studio Code ภาษาที่ใช้ได้แก่ HTML CSS JavaScript React.JS (ฝั่ง Frontend) และ PHP (ฝั่ง Backend) โดยใช้ MySQL จัดการฐานข้อมูล 16 ตารางหลัก กระบวนการพัฒนาใช้วงจร SDLC เป็นกรอบการทำงาน วิเคราะห์ระบบด้วย DFD และ ER-Diagram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ดำเนินการ 7 ขั้นตอนตาม SDLC เริ่มจากศึกษาปัญหาด้วยแผนผังก้างปลา ศึกษาความเป็นไปได้ด้านเทคนิคและประโยชน์ใช้งาน วิเคราะห์ระบบด้วย DFD และ ER-Diagram ออกแบบหน้าจอและฐานข้อมูล พัฒนาด้วย PHP React.JS MySQL ทดสอบฟังก์ชันและติดตั้งบนเว็บเซิร์ฟเวอร์ และประเมินโดยผู้เชี่ยวชาญและผู้ใช้งาน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ภาพซ้าย DFD ระดับ 0 แสดงบริบทการแลกเปลี่ยนข้อมูลระหว่างผู้ใช้ทั้ง 5 กลุ่มกับระบบ ภาพขวา ER-Diagram แสดงความสัมพันธ์ของข้อมูลในฐานข้อมูล 16 ตารางหลัก ให้ชี้ความสัมพันธ์สำคัญจากภาพ ไม่ต้องอ่านชื่อทุกตาราง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ผู้ใช้ทุกกลุ่มเข้าสู่ระบบผ่านหน้าล็อกอินเดียวกัน ระบบตรวจสอบสิทธิ์และพาไปยังแดชบอร์ดของแต่ละบทบาท ผู้ที่มีหลายบทบาทเลือกได้ก่อนเข้าใช้งาน ส่วนแดชบอร์ดผู้ดูแลระบบสรุปจำนวนผู้ใช้และข้อมูลหลักของโรงเรียน รวมถึงจัดการข้อมูลนักเรียน ครู และการพิมพ์บัตร QR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หน้าบันทึกพฤติกรรมเป็นแกนของระบบ ฝ่ายปกครองบันทึกเหตุการณ์บวก-ลบ แนบรูปหลักฐาน ครูส่งเรื่องเข้าสายอนุมัติก่อนตัดคะแนนจริง แดชบอร์ดสรุปคดี คะแนนเฉลี่ย และนักเรียนกลุ่มเสี่ยง ส่วนรายงานสรุปกรองสถิติตามชั้น/ห้องและส่งออกเป็น PDF หรือ Excel 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ครูที่ปรึกษาใช้หน้าเช็คชื่อบันทึกสถานะการมาเรียนรายวันของทั้งห้อง ข้อมูลสะสมเชื่อมกับคะแนนความประพฤติอัตโนมัติ เมื่อพบพฤติกรรมที่ต้องบันทึก ครูเลือกเกณฑ์ตามที่ฝ่ายปกครองกำหนด แนบหลักฐานภาพถ่าย แล้วส่งเรื่องเข้าสายอนุมัติ ทำให้ข้อมูลถูกต้องและตรวจสอบย้อนหลังได้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นักเรียนดูคะแนนคงเหลือและประวัติของตนเอง ยื่นอุทธรณ์พร้อมหลักฐานได้ และใช้บัตร QR เช็คชื่อละหมาด ส่วนผู้ปกครองเข้าพอร์ทัลดูคะแนน ทัณฑ์บน และการเข้าเรียน สลับดูบุตรหลานหลายคนในบัญชีเดียว พร้อมกล่องข้อความติดต่อครูที่ปรึกษาและฝ่ายปกครองโดยตรง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รายงานผลประเมินคุณภาพโดยผู้เชี่ยวชาญ 3 คน 4 ด้าน (ความปลอดภัย ความถูกต้อง การออกแบบ การนำไปใช้ประโยชน์) และความพึงพอใจของผู้ใช้ 30 คน 2 ด้าน (กระบวนการทำงาน การติดต่อระบบงาน) โดยวิเคราะห์ด้วยค่าเฉลี่ยและส่วนเบี่ยงเบนมาตรฐาน แปลผลตามเกณฑ์ 5 ระดับ — ตารางในรายงานยังว่าง ต้องกรอกค่าจริงก่อนนำเสนอ ห้ามอ่านตัวเลขตัวอย่างเป็นผลของโครงงาน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สรุป: ระบบรวมข้อมูลการทำงานวินัยไว้จุดเดียว ลดการพึ่งพาเอกสารกระดาษ ค้นหาและสรุปผลได้เร็วขึ้น โปร่งใสและตรวจสอบย้อนหลังได้ อภิปราย: PHP กับ MySQL สนับสนุนการจัดเก็บและการเข้าถึงฐานข้อมูลกลาง การคำนวณคะแนน Real-time และพอร์ทัลผู้ปกครองเพิ่มความโปร่งใสและการร่วมดูแล ข้อเสนอแนะ: พัฒนาแอปมือถือ เชื่อมแจ้งเตือน LINE/SMS ทันทีที่ตัดคะแนน และใช้ AI พยากรณ์แนวโน้มพฤติกรรมนักเรียนกลุ่มเสี่ยงเพื่อการแนะแนวเชิงป้องกัน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ขอบพระคุณคณะกรรมการและผู้ฟังทุกท่าน เปิดโอกาสให้ซักถามและให้ข้อเสนอแนะครับ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3A22">
              <a:alpha val="8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6048" y="420624"/>
            <a:ext cx="1024128" cy="10241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4" name="Image 0" descr="C:/xampp/htdocs/student-discipline-system/docs/manual_images/logo_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932" y="544068"/>
            <a:ext cx="59436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36208" y="420624"/>
            <a:ext cx="1024128" cy="10241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6" name="Image 1" descr="C:/xampp/htdocs/student-discipline-system/public/image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621792"/>
            <a:ext cx="822960" cy="6217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810512"/>
            <a:ext cx="9445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5C0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การนำเสนอโครงงานวิจัย  ·  ปีการศึกษา 2569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2139696"/>
            <a:ext cx="103601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</a:t>
            </a:r>
            <a:endParaRPr lang="en-US" sz="3700" dirty="0"/>
          </a:p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และติดตามพฤติกรรมนักเรียน</a:t>
            </a:r>
            <a:endParaRPr lang="en-US" sz="3700" dirty="0"/>
          </a:p>
        </p:txBody>
      </p:sp>
      <p:sp>
        <p:nvSpPr>
          <p:cNvPr id="9" name="Text 5"/>
          <p:cNvSpPr/>
          <p:nvPr/>
        </p:nvSpPr>
        <p:spPr>
          <a:xfrm>
            <a:off x="1371600" y="3767328"/>
            <a:ext cx="9445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5C0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กรณีศึกษา : โรงเรียนศิริราษฎร์สามัคคี จังหวัดปัตตานี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1888236" y="4736592"/>
            <a:ext cx="8412480" cy="1298448"/>
          </a:xfrm>
          <a:prstGeom prst="roundRect">
            <a:avLst>
              <a:gd name="adj" fmla="val 633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FBFA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53996" y="4882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0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คณะผู้วิจัย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253996" y="5166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นายตอริก ลือแมะ   (406665012)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นายบุสริน มูซอ   (406665027)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31636" y="4965192"/>
            <a:ext cx="10973" cy="841248"/>
          </a:xfrm>
          <a:prstGeom prst="rect">
            <a:avLst/>
          </a:prstGeom>
          <a:solidFill>
            <a:srgbClr val="8FBFA6"/>
          </a:solidFill>
          <a:ln/>
        </p:spPr>
      </p:sp>
      <p:sp>
        <p:nvSpPr>
          <p:cNvPr id="14" name="Text 10"/>
          <p:cNvSpPr/>
          <p:nvPr/>
        </p:nvSpPr>
        <p:spPr>
          <a:xfrm>
            <a:off x="6505956" y="4882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0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อาจารย์ที่ปรึกษา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05956" y="5166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อาจารย์แพรวศรี เดิมราช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อาจารย์รุสนี กาแมแล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371600" y="6364224"/>
            <a:ext cx="9445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สาขาวิชาเทคโนโลยีสารสนเทศ  ·  คณะวิทยาศาสตร์ เทคโนโลยีและการเกษตร  ·  มหาวิทยาลัยราชภัฏยะลา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ทีมวิจัย  ·  ผู้จัดทำโครงงาน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คณะผู้วิจัยและอาจารย์ที่ปรึกษา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คณะผู้วิจัย (Researchers)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85316" y="1755648"/>
            <a:ext cx="4572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6" name="Image 0" descr="C:/xampp/htdocs/student-discipline-system/docs/presentation_assets/logos/photo_resear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961388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14116" y="2066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ผู้วิจัย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214116" y="2322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นายตอริก ลือแมะ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214116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รหัสนักศึกษา 406665012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31636" y="1755648"/>
            <a:ext cx="4572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11" name="Image 1" descr="C:/xampp/htdocs/student-discipline-system/docs/presentation_assets/logos/photo_resear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1961388"/>
            <a:ext cx="1371600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60436" y="2066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ผู้วิจัย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060436" y="2322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นายบุสริน มูซอ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060436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รหัสนักศึกษา 406665027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3803904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อาจารย์ที่ปรึกษา (Advisors)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385316" y="4187952"/>
            <a:ext cx="4572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17" name="Image 2" descr="C:/xampp/htdocs/student-discipline-system/docs/presentation_assets/logos/photo_advis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4393692"/>
            <a:ext cx="1371600" cy="1371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14116" y="4498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อาจารย์ที่ปรึกษา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214116" y="4754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อาจารย์แพรวศรี เดิมราช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3214116" y="5193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มหาวิทยาลัยราชภัฏยะลา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31636" y="4187952"/>
            <a:ext cx="45720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22" name="Image 3" descr="C:/xampp/htdocs/student-discipline-system/docs/presentation_assets/logos/photo_advis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4393692"/>
            <a:ext cx="1371600" cy="1371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60436" y="4498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อาจารย์ที่ปรึกษา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060436" y="4754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อาจารย์รุสนี กาแมแล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060436" y="5193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มหาวิทยาลัยราชภัฏยะลา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144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คลิกขวาที่รูปวงกลม → เปลี่ยนรูปภาพ (Change Picture)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 / 15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1  ·  ปัญหาและที่มา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138928" cy="4315968"/>
          </a:xfrm>
          <a:prstGeom prst="roundRect">
            <a:avLst>
              <a:gd name="adj" fmla="val 1695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19072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7556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ระบบงานเดิม · กระดาษ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86384" y="2478024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35000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ข้อมูลกระจัดกระจาย สูญหายง่าย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86384" y="3282696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315468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ค้นหาประวัติย้อนหลังช้า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86384" y="4087368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95935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คะแนนไม่เป็น Real-time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86384" y="4892040"/>
            <a:ext cx="128016" cy="1280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76402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ผู้ปกครองรับรู้ช้า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592824" y="1481328"/>
            <a:ext cx="5138928" cy="4315968"/>
          </a:xfrm>
          <a:prstGeom prst="roundRect">
            <a:avLst>
              <a:gd name="adj" fmla="val 1695"/>
            </a:avLst>
          </a:prstGeom>
          <a:solidFill>
            <a:srgbClr val="E9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6885432" y="1719072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ระบบใหม่ · เว็บแอปพลิเคชัน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922008" y="2478024"/>
            <a:ext cx="128016" cy="128016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7" name="Text 15"/>
          <p:cNvSpPr/>
          <p:nvPr/>
        </p:nvSpPr>
        <p:spPr>
          <a:xfrm>
            <a:off x="7214616" y="235000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ฐานข้อมูลกลางทั้งโรงเรียน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922008" y="3282696"/>
            <a:ext cx="128016" cy="128016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9" name="Text 17"/>
          <p:cNvSpPr/>
          <p:nvPr/>
        </p:nvSpPr>
        <p:spPr>
          <a:xfrm>
            <a:off x="7214616" y="315468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คำนวณคะแนนอัตโนมัติ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922008" y="4087368"/>
            <a:ext cx="128016" cy="128016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95935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แดชบอร์ดนักเรียนกลุ่มเสี่ยง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922008" y="4892040"/>
            <a:ext cx="128016" cy="128016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3" name="Text 21"/>
          <p:cNvSpPr/>
          <p:nvPr/>
        </p:nvSpPr>
        <p:spPr>
          <a:xfrm>
            <a:off x="7214616" y="476402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พอร์ทัลผู้ปกครอง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769864" y="3145536"/>
            <a:ext cx="786384" cy="603504"/>
          </a:xfrm>
          <a:prstGeom prst="rightArrow">
            <a:avLst/>
          </a:prstGeom>
          <a:solidFill>
            <a:srgbClr val="D97706"/>
          </a:solidFill>
          <a:ln/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41264" y="380390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 / 15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1  ·  วัตถุประสงค์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วัตถุประสงค์การวิจัย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39312" cy="2468880"/>
          </a:xfrm>
          <a:prstGeom prst="roundRect">
            <a:avLst>
              <a:gd name="adj" fmla="val 3333"/>
            </a:avLst>
          </a:prstGeom>
          <a:solidFill>
            <a:srgbClr val="E9F1EC"/>
          </a:solidFill>
          <a:ln w="12700">
            <a:solidFill>
              <a:srgbClr val="CDE2D6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792224"/>
            <a:ext cx="621792" cy="621792"/>
          </a:xfrm>
          <a:prstGeom prst="ellipse">
            <a:avLst/>
          </a:prstGeom>
          <a:solidFill>
            <a:srgbClr val="0F5132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65960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94944" y="26517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21868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วิเคราะห์ ออกแบบ และพัฒนาระบบงานวินัย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79392" y="2103120"/>
            <a:ext cx="36393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88152" y="1792224"/>
            <a:ext cx="621792" cy="621792"/>
          </a:xfrm>
          <a:prstGeom prst="ellipse">
            <a:avLst/>
          </a:prstGeom>
          <a:solidFill>
            <a:srgbClr val="0F5132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88152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17136" y="26517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ประเมินคุณภาพ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53712" y="321868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โดยผู้เชี่ยวชาญ 3 คน · 4 ด้าน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63931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10344" y="1792224"/>
            <a:ext cx="621792" cy="621792"/>
          </a:xfrm>
          <a:prstGeom prst="ellipse">
            <a:avLst/>
          </a:prstGeom>
          <a:solidFill>
            <a:srgbClr val="0F5132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10344" y="1792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39328" y="265176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ประเมินความพึงพอใจ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218688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ผู้ใช้งานจริง 30 คน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 / 15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1  ·  ขอบเขต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ขอบเขตการวิจัย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1907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 5 กลุ่ม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194560"/>
            <a:ext cx="365760" cy="36576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" y="2761488"/>
            <a:ext cx="365760" cy="36576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7340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ฝ่ายปกครอง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8096" y="3328416"/>
            <a:ext cx="365760" cy="36576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300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ครูที่ปรึกษา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8096" y="3895344"/>
            <a:ext cx="365760" cy="36576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867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นักเรียน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Student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8096" y="4462272"/>
            <a:ext cx="365760" cy="365760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434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ผู้ปกครอง 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Parent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523036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คน  ·  กลุ่มตัวอย่างแบบเจาะจง (Purposive)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998464" y="1572768"/>
            <a:ext cx="5733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ฟังก์ชันหลักของระบบ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998464" y="220370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3620" y="2308860"/>
            <a:ext cx="64008" cy="640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5" name="Text 23"/>
          <p:cNvSpPr/>
          <p:nvPr/>
        </p:nvSpPr>
        <p:spPr>
          <a:xfrm>
            <a:off x="6437376" y="2157984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บันทึกพฤติกรรมบวก / ลบ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37376" y="2724912"/>
            <a:ext cx="5166360" cy="731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98464" y="28803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103620" y="2985516"/>
            <a:ext cx="64008" cy="640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2834640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คำนวณคะแนน Real-time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7376" y="3401568"/>
            <a:ext cx="5166360" cy="731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1" name="Shape 29"/>
          <p:cNvSpPr/>
          <p:nvPr/>
        </p:nvSpPr>
        <p:spPr>
          <a:xfrm>
            <a:off x="5998464" y="35570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/>
        </p:spPr>
      </p:sp>
      <p:sp>
        <p:nvSpPr>
          <p:cNvPr id="32" name="Shape 30"/>
          <p:cNvSpPr/>
          <p:nvPr/>
        </p:nvSpPr>
        <p:spPr>
          <a:xfrm>
            <a:off x="6103620" y="3662172"/>
            <a:ext cx="64008" cy="640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3511296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คำร้องอุทธรณ์คะแนน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37376" y="4078224"/>
            <a:ext cx="5166360" cy="731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5" name="Shape 33"/>
          <p:cNvSpPr/>
          <p:nvPr/>
        </p:nvSpPr>
        <p:spPr>
          <a:xfrm>
            <a:off x="5998464" y="423367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/>
        </p:spPr>
      </p:sp>
      <p:sp>
        <p:nvSpPr>
          <p:cNvPr id="36" name="Shape 34"/>
          <p:cNvSpPr/>
          <p:nvPr/>
        </p:nvSpPr>
        <p:spPr>
          <a:xfrm>
            <a:off x="6103620" y="4338828"/>
            <a:ext cx="64008" cy="640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7" name="Text 35"/>
          <p:cNvSpPr/>
          <p:nvPr/>
        </p:nvSpPr>
        <p:spPr>
          <a:xfrm>
            <a:off x="6437376" y="4187952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เช็คชื่อเข้าแถวหน้าเสาธง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7376" y="4754880"/>
            <a:ext cx="5166360" cy="731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Shape 37"/>
          <p:cNvSpPr/>
          <p:nvPr/>
        </p:nvSpPr>
        <p:spPr>
          <a:xfrm>
            <a:off x="5998464" y="491032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5015484"/>
            <a:ext cx="64008" cy="640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1" name="Text 39"/>
          <p:cNvSpPr/>
          <p:nvPr/>
        </p:nvSpPr>
        <p:spPr>
          <a:xfrm>
            <a:off x="6437376" y="4864608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เช็คชื่อละหมาดด้วย QR Code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37376" y="5431536"/>
            <a:ext cx="5166360" cy="731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3" name="Shape 41"/>
          <p:cNvSpPr/>
          <p:nvPr/>
        </p:nvSpPr>
        <p:spPr>
          <a:xfrm>
            <a:off x="5998464" y="55869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/>
        </p:spPr>
      </p:sp>
      <p:sp>
        <p:nvSpPr>
          <p:cNvPr id="44" name="Shape 42"/>
          <p:cNvSpPr/>
          <p:nvPr/>
        </p:nvSpPr>
        <p:spPr>
          <a:xfrm>
            <a:off x="6103620" y="5692140"/>
            <a:ext cx="64008" cy="6400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5" name="Text 43"/>
          <p:cNvSpPr/>
          <p:nvPr/>
        </p:nvSpPr>
        <p:spPr>
          <a:xfrm>
            <a:off x="6437376" y="5541264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พอร์ทัลผู้ปกครอง + กล่องข้อความ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 / 15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2  ·  ทฤษฎีและเครื่องมือ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แนวคิด ทฤษฎี และเครื่องมือที่ใช้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554126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เครื่องมือพัฒนา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359152"/>
            <a:ext cx="969264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7" name="Image 0" descr="C:/xampp/htdocs/student-discipline-system/docs/presentation_assets/logos/vs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023" y="2523927"/>
            <a:ext cx="639714" cy="639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84832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Visual Studio Code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84832" y="2889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โปรแกรมแก้ไขโค้ดหลัก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0488" y="1572768"/>
            <a:ext cx="554126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6480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ภาษาและเทคโนโลยี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84264" y="230428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13" name="Image 1" descr="C:/xampp/htdocs/student-discipline-system/docs/presentation_assets/logos/html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731" y="2431755"/>
            <a:ext cx="494873" cy="4948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56248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HTML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635240" y="230428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16" name="Image 2" descr="C:/xampp/htdocs/student-discipline-system/docs/presentation_assets/logos/c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707" y="2431755"/>
            <a:ext cx="494873" cy="4948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07224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586216" y="230428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19" name="Image 3" descr="C:/xampp/htdocs/student-discipline-system/docs/presentation_assets/logos/javascr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683" y="2431755"/>
            <a:ext cx="494873" cy="4948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58200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537192" y="230428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22" name="Image 4" descr="C:/xampp/htdocs/student-discipline-system/docs/presentation_assets/logos/reac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659" y="2431755"/>
            <a:ext cx="494873" cy="49487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09176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10488168" y="230428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25" name="Image 5" descr="C:/xampp/htdocs/student-discipline-system/docs/presentation_assets/logos/ph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5635" y="2431755"/>
            <a:ext cx="494873" cy="49487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360152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PHP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6464808" y="340156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Frontend  ·  Backend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57200" y="4005072"/>
            <a:ext cx="554126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731520" y="422452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ระบบจัดการฐานข้อมูล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841248" y="4791456"/>
            <a:ext cx="969264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31" name="Image 6" descr="C:/xampp/htdocs/student-discipline-system/docs/presentation_assets/logos/mysq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23" y="4956231"/>
            <a:ext cx="639714" cy="63971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084832" y="49194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MySQL</a:t>
            </a:r>
            <a:endParaRPr lang="en-US" sz="1700" dirty="0"/>
          </a:p>
        </p:txBody>
      </p:sp>
      <p:sp>
        <p:nvSpPr>
          <p:cNvPr id="33" name="Text 24"/>
          <p:cNvSpPr/>
          <p:nvPr/>
        </p:nvSpPr>
        <p:spPr>
          <a:xfrm>
            <a:off x="2084832" y="5321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 ตารางฐานข้อมูลหลัก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190488" y="4005072"/>
            <a:ext cx="5541264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6464808" y="422452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ระเบียบวิธีพัฒนาระบบ (SDLC)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56248" y="473659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9F1EC"/>
          </a:solidFill>
          <a:ln/>
        </p:spPr>
      </p:sp>
      <p:sp>
        <p:nvSpPr>
          <p:cNvPr id="37" name="Text 28"/>
          <p:cNvSpPr/>
          <p:nvPr/>
        </p:nvSpPr>
        <p:spPr>
          <a:xfrm>
            <a:off x="6556248" y="47365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7434072" y="48920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9F1EC"/>
          </a:solidFill>
          <a:ln/>
        </p:spPr>
      </p:sp>
      <p:sp>
        <p:nvSpPr>
          <p:cNvPr id="39" name="Text 30"/>
          <p:cNvSpPr/>
          <p:nvPr/>
        </p:nvSpPr>
        <p:spPr>
          <a:xfrm>
            <a:off x="7434072" y="48920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311896" y="504748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9F1EC"/>
          </a:solidFill>
          <a:ln/>
        </p:spPr>
      </p:sp>
      <p:sp>
        <p:nvSpPr>
          <p:cNvPr id="41" name="Text 32"/>
          <p:cNvSpPr/>
          <p:nvPr/>
        </p:nvSpPr>
        <p:spPr>
          <a:xfrm>
            <a:off x="8311896" y="50474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9189720" y="520293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E9F1EC"/>
          </a:solidFill>
          <a:ln/>
        </p:spPr>
      </p:sp>
      <p:sp>
        <p:nvSpPr>
          <p:cNvPr id="43" name="Text 34"/>
          <p:cNvSpPr/>
          <p:nvPr/>
        </p:nvSpPr>
        <p:spPr>
          <a:xfrm>
            <a:off x="9189720" y="52029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10067544" y="535838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BF0DE"/>
          </a:solidFill>
          <a:ln/>
        </p:spPr>
      </p:sp>
      <p:sp>
        <p:nvSpPr>
          <p:cNvPr id="45" name="Text 36"/>
          <p:cNvSpPr/>
          <p:nvPr/>
        </p:nvSpPr>
        <p:spPr>
          <a:xfrm>
            <a:off x="10067544" y="53583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6556248" y="583387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วิเคราะห์ด้วย DFD · ER-Diagram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48" name="Text 39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 / 15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3  ·  วิธีดำเนินการวิจัย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ขั้นตอนการดำเนินการวิจัยตามวงจร SDLC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63624"/>
            <a:ext cx="420624" cy="42062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63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0704" y="15179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ศึกษาและกำหนดปัญหา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14800" y="151790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แผนผังก้างปลา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2940" y="2011680"/>
            <a:ext cx="10973" cy="1691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17420"/>
            <a:ext cx="420624" cy="42062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74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0704" y="21717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ศึกษาความเป็นไปได้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114800" y="21717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เทคนิค · การใช้งาน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" y="2665476"/>
            <a:ext cx="10973" cy="1691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71216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0704" y="282549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วิเคราะห์ระบบ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28254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DFD · ER-Diagram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" y="3319272"/>
            <a:ext cx="10973" cy="1691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525012"/>
            <a:ext cx="420624" cy="42062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50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0704" y="34792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ออกแบบระบบ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114800" y="34792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UI · ฐานข้อมูล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" y="3973068"/>
            <a:ext cx="10973" cy="1691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78808"/>
            <a:ext cx="420624" cy="42062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0704" y="41330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114800" y="41330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PHP · React · MySQL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" y="4626864"/>
            <a:ext cx="10973" cy="1691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832604"/>
            <a:ext cx="420624" cy="42062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32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60704" y="47868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ทดสอบและติดตั้ง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114800" y="47868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ทดสอบฟังก์ชัน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" y="5280660"/>
            <a:ext cx="10973" cy="1691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548640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60704" y="54406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ประเมินระบบ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4114800" y="54406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ผู้เชี่ยวชาญ · ผู้ใช้งาน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0" y="1517904"/>
            <a:ext cx="423367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39" name="Image 0" descr="C:/xampp/htdocs/student-discipline-system/docs/presentation_assets/fish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1755648"/>
            <a:ext cx="3904488" cy="1523405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680960" y="3310128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แผนผังก้างปลา (ภาพที่ 3.2)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7680960" y="362102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วิเคราะห์สาเหตุปัญหาของระบบเดิม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498080" y="4754880"/>
            <a:ext cx="4233672" cy="1335024"/>
          </a:xfrm>
          <a:prstGeom prst="roundRect">
            <a:avLst>
              <a:gd name="adj" fmla="val 5479"/>
            </a:avLst>
          </a:prstGeom>
          <a:solidFill>
            <a:srgbClr val="E9F1EC"/>
          </a:solidFill>
          <a:ln/>
        </p:spPr>
      </p:sp>
      <p:sp>
        <p:nvSpPr>
          <p:cNvPr id="43" name="Text 40"/>
          <p:cNvSpPr/>
          <p:nvPr/>
        </p:nvSpPr>
        <p:spPr>
          <a:xfrm>
            <a:off x="7754112" y="4919472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 ขั้นตอน</a:t>
            </a:r>
            <a:endParaRPr lang="en-US" sz="26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ครบวงจร ศึกษาปัญหา ถึง ประเมินผล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07 / 15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3  ·  การวิเคราะห์และออกแบบ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ผลการวิเคราะห์และออกแบบระบบ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6355080" cy="3178217"/>
          </a:xfrm>
          <a:prstGeom prst="roundRect">
            <a:avLst>
              <a:gd name="adj" fmla="val 20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5" name="Image 0" descr="C:/xampp/htdocs/student-discipline-system/docs/presentation_assets/dfd_level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63624"/>
            <a:ext cx="6080760" cy="29038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732697"/>
            <a:ext cx="626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ภาพที่ 3.5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4970441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DFD Level 0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1208" y="5299625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การไหลของข้อมูลระหว่างผู้ใช้กับระบบ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92824" y="1426464"/>
            <a:ext cx="5138928" cy="3288327"/>
          </a:xfrm>
          <a:prstGeom prst="roundRect">
            <a:avLst>
              <a:gd name="adj" fmla="val 19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pic>
        <p:nvPicPr>
          <p:cNvPr id="10" name="Image 1" descr="C:/xampp/htdocs/student-discipline-system/docs/presentation_assets/er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1563624"/>
            <a:ext cx="4864608" cy="30140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38544" y="4842807"/>
            <a:ext cx="5047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ภาพที่ 3.10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638544" y="5080551"/>
            <a:ext cx="5047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ER-Diagram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656832" y="5409735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โครงสร้างฐานข้อมูล 16 ตาราง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5870448"/>
            <a:ext cx="12188952" cy="987552"/>
          </a:xfrm>
          <a:prstGeom prst="rect">
            <a:avLst/>
          </a:prstGeom>
          <a:solidFill>
            <a:srgbClr val="E9F1EC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587044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กลุ่มผู้ใช้งาน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4663440" y="587044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ตารางฐานข้อมูลหลัก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8503920" y="5870448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100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  คะแนนเริ่มต้น / ภาคเรียน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08 / 15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4  ·  ผลการพัฒนาระบบ (1/4)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การเข้าสู่ระบบและงานพื้นฐานของผู้ดูแลระบบ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13248" cy="3802761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7792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6092" y="1677924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77924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91056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5193792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0" descr="C:/xampp/htdocs/student-discipline-system/docs/manual_images/fig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58061"/>
            <a:ext cx="5193792" cy="3316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18504" y="1481328"/>
            <a:ext cx="5413248" cy="3802761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55664" y="167792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Shape 10"/>
          <p:cNvSpPr/>
          <p:nvPr/>
        </p:nvSpPr>
        <p:spPr>
          <a:xfrm>
            <a:off x="6597396" y="1677924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6739128" y="1677924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15" name="Text 12"/>
          <p:cNvSpPr/>
          <p:nvPr/>
        </p:nvSpPr>
        <p:spPr>
          <a:xfrm>
            <a:off x="6958584" y="1591056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28232" y="1847088"/>
            <a:ext cx="5193792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1" descr="C:/xampp/htdocs/student-discipline-system/docs/manual_images/fig_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858061"/>
            <a:ext cx="5193792" cy="3316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534924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หน้าเข้าสู่ระบบ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5586984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แยกสิทธิ์ตามบทบาท (RBAC)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475488" y="591616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รองรับผู้ใช้ที่มีหลายบทบาท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318504" y="534924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แดชบอร์ดผู้ดูแลระบบ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318504" y="5586984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ภาพรวมข้อมูลทั้งโรงเรียน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6336792" y="591616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 นักเรียน ครู ผู้ปกครอง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09 / 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4  ·  ผลการพัฒนาระบบ (2/4)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กลุ่มฝ่ายปกครอง — หัวใจของการบริหารงานวินัย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657600" cy="2678049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41348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6092" y="1641348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41348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3438144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0" descr="C:/xampp/htdocs/student-discipline-system/docs/manual_images/fig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1485"/>
            <a:ext cx="3438144" cy="21915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65676" y="1444752"/>
            <a:ext cx="3657600" cy="2678049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2836" y="1641348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Shape 10"/>
          <p:cNvSpPr/>
          <p:nvPr/>
        </p:nvSpPr>
        <p:spPr>
          <a:xfrm>
            <a:off x="4544568" y="1641348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86300" y="1641348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15" name="Text 12"/>
          <p:cNvSpPr/>
          <p:nvPr/>
        </p:nvSpPr>
        <p:spPr>
          <a:xfrm>
            <a:off x="4905756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75404" y="1810512"/>
            <a:ext cx="3438144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1" descr="C:/xampp/htdocs/student-discipline-system/docs/manual_images/fig_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1821485"/>
            <a:ext cx="3438144" cy="21915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74152" y="1444752"/>
            <a:ext cx="3657600" cy="2678049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11312" y="1641348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53044" y="1641348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21" name="Shape 17"/>
          <p:cNvSpPr/>
          <p:nvPr/>
        </p:nvSpPr>
        <p:spPr>
          <a:xfrm>
            <a:off x="8494776" y="1641348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22" name="Text 18"/>
          <p:cNvSpPr/>
          <p:nvPr/>
        </p:nvSpPr>
        <p:spPr>
          <a:xfrm>
            <a:off x="8714232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183880" y="1810512"/>
            <a:ext cx="3438144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4" name="Image 2" descr="C:/xampp/htdocs/student-discipline-system/docs/manual_images/fig_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821485"/>
            <a:ext cx="3438144" cy="2191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" y="43159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แดชบอร์ดฝ่ายปกครอง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สถิติวินัยทั้งโรงเรียน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475488" y="4882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ติดตามแบบ Real-time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265676" y="43159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บันทึกพฤติกรรม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265676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ตัด/เพิ่มคะแนนพร้อมหลักฐาน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4283964" y="4882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ครูส่งเรื่อง ฝ่ายปกครองอนุมัติ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074152" y="43159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รายงานสรุป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074152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กรองตามชั้น / ห้องเรียน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8092440" y="4882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 PDF / Excel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 / 15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4  ·  ผลการพัฒนาระบบ (3/4)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กลุ่มครูผู้สอนและครูที่ปรึกษา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413248" cy="3802761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7792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6092" y="1677924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77924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91056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5193792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0" descr="C:/xampp/htdocs/student-discipline-system/docs/manual_images/fig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58061"/>
            <a:ext cx="5193792" cy="33163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18504" y="1481328"/>
            <a:ext cx="5413248" cy="3802761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55664" y="167792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Shape 10"/>
          <p:cNvSpPr/>
          <p:nvPr/>
        </p:nvSpPr>
        <p:spPr>
          <a:xfrm>
            <a:off x="6597396" y="1677924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6739128" y="1677924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15" name="Text 12"/>
          <p:cNvSpPr/>
          <p:nvPr/>
        </p:nvSpPr>
        <p:spPr>
          <a:xfrm>
            <a:off x="6958584" y="1591056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28232" y="1847088"/>
            <a:ext cx="5193792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1" descr="C:/xampp/htdocs/student-discipline-system/docs/manual_images/fig_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858061"/>
            <a:ext cx="5193792" cy="3316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534924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เช็คชื่อเข้าแถวประจำวัน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5586984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มา / สาย / ขาด ทั้งห้องเรียน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475488" y="591616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ข้อมูลสะสมอัตโนมัติ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318504" y="5349240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บันทึกพฤติกรรมโดยครู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318504" y="5586984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เลือกเกณฑ์ + แนบหลักฐาน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6336792" y="5916168"/>
            <a:ext cx="5230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ส่งให้ฝ่ายปกครองอนุมัติ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 / 15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4  ·  ผลการพัฒนาระบบ (4/4)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กลุ่มนักเรียนและผู้ปกครอง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657600" cy="2678049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41348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736092" y="1641348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41348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3438144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0" name="Image 0" descr="C:/xampp/htdocs/student-discipline-system/docs/manual_images/fig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21485"/>
            <a:ext cx="3438144" cy="21915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65676" y="1444752"/>
            <a:ext cx="3657600" cy="2678049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2836" y="1641348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13" name="Shape 10"/>
          <p:cNvSpPr/>
          <p:nvPr/>
        </p:nvSpPr>
        <p:spPr>
          <a:xfrm>
            <a:off x="4544568" y="1641348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86300" y="1641348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15" name="Text 12"/>
          <p:cNvSpPr/>
          <p:nvPr/>
        </p:nvSpPr>
        <p:spPr>
          <a:xfrm>
            <a:off x="4905756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75404" y="1810512"/>
            <a:ext cx="3438144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7" name="Image 1" descr="C:/xampp/htdocs/student-discipline-system/docs/manual_images/fig_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1821485"/>
            <a:ext cx="3438144" cy="219158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074152" y="1444752"/>
            <a:ext cx="3657600" cy="2678049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11312" y="1641348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53044" y="1641348"/>
            <a:ext cx="82296" cy="82296"/>
          </a:xfrm>
          <a:prstGeom prst="ellipse">
            <a:avLst/>
          </a:prstGeom>
          <a:solidFill>
            <a:srgbClr val="D8E2DC"/>
          </a:solidFill>
          <a:ln/>
        </p:spPr>
      </p:sp>
      <p:sp>
        <p:nvSpPr>
          <p:cNvPr id="21" name="Shape 17"/>
          <p:cNvSpPr/>
          <p:nvPr/>
        </p:nvSpPr>
        <p:spPr>
          <a:xfrm>
            <a:off x="8494776" y="1641348"/>
            <a:ext cx="82296" cy="82296"/>
          </a:xfrm>
          <a:prstGeom prst="ellipse">
            <a:avLst/>
          </a:prstGeom>
          <a:solidFill>
            <a:srgbClr val="B7D4C4"/>
          </a:solidFill>
          <a:ln/>
        </p:spPr>
      </p:sp>
      <p:sp>
        <p:nvSpPr>
          <p:cNvPr id="22" name="Text 18"/>
          <p:cNvSpPr/>
          <p:nvPr/>
        </p:nvSpPr>
        <p:spPr>
          <a:xfrm>
            <a:off x="8714232" y="1554480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406665027.site.yru.ac.th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183880" y="1810512"/>
            <a:ext cx="3438144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4" name="Image 2" descr="C:/xampp/htdocs/student-discipline-system/docs/manual_images/fig_3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821485"/>
            <a:ext cx="3438144" cy="2191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" y="43159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แดชบอร์ดนักเรียน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คะแนนคงเหลือจาก 100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475488" y="4882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ยื่นอุทธรณ์พร้อมหลักฐาน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265676" y="43159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บัตร QR นักเรียน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265676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เช็คชื่อละหมาดซุฮรี / อัศรี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4283964" y="4882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สแกนผ่านกล้อง / บาร์โค้ด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074152" y="43159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พอร์ทัลผู้ปกครอง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074152" y="4553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คะแนน + การเข้าเรียน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8092440" y="48828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สลับดูบุตรหลานหลายคน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 / 15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4  ·  การประเมินระบบ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ผลการประเมินคุณภาพและความพึงพอใจ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ผู้เชี่ยวชาญ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คน · 4 ด้าน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2478024"/>
            <a:ext cx="100584" cy="1005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38658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ด้านความปลอดภัย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23865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x̅ = ______    S.D. = ______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2990088"/>
            <a:ext cx="100584" cy="1005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898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ด้านความถูกต้อง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28986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x̅ = ______    S.D. = 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3502152"/>
            <a:ext cx="100584" cy="1005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34107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ด้านการออกแบบ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34107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x̅ = ______    S.D. = 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4014216"/>
            <a:ext cx="100584" cy="1005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" y="3922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ด้านการนำไปใช้ประโยชน์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3922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x̅ = ______    S.D. = ______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FBF0D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805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  x̅ = ______    S.D. = ______    ระดับ = ________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45352" y="1517904"/>
            <a:ext cx="548640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9672" y="17190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ผู้ใช้งานจริง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 คน · 2 ด้าน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537960" y="2569464"/>
            <a:ext cx="100584" cy="1005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3" name="Text 21"/>
          <p:cNvSpPr/>
          <p:nvPr/>
        </p:nvSpPr>
        <p:spPr>
          <a:xfrm>
            <a:off x="6757416" y="24780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ด้านกระบวนการทำงานของระบบ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45752" y="24780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x̅ = ______    S.D. = ______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3136392"/>
            <a:ext cx="100584" cy="10058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26" name="Text 24"/>
          <p:cNvSpPr/>
          <p:nvPr/>
        </p:nvSpPr>
        <p:spPr>
          <a:xfrm>
            <a:off x="6757416" y="3044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ด้านการติดต่อระบบงาน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45752" y="30449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x̅ = ______    S.D. = ______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19672" y="3803904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9F1EC"/>
          </a:solidFill>
          <a:ln/>
        </p:spPr>
      </p:sp>
      <p:sp>
        <p:nvSpPr>
          <p:cNvPr id="29" name="Text 27"/>
          <p:cNvSpPr/>
          <p:nvPr/>
        </p:nvSpPr>
        <p:spPr>
          <a:xfrm>
            <a:off x="6702552" y="38039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  x̅ = ______    S.D. = ______    ระดับ = ________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55778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กรอกค่าจริงจากตาราง 4.1–4.2 ในรายงาน ก่อนวันนำเสนอ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 / 15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บทที่ 5  ·  บทสรุป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 อภิปรายผล และข้อเสนอแนะ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1463040"/>
            <a:ext cx="12188952" cy="1097280"/>
          </a:xfrm>
          <a:prstGeom prst="rect">
            <a:avLst/>
          </a:prstGeom>
          <a:solidFill>
            <a:srgbClr val="E9F1E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09928"/>
            <a:ext cx="603504" cy="603504"/>
          </a:xfrm>
          <a:prstGeom prst="ellipse">
            <a:avLst/>
          </a:prstGeom>
          <a:solidFill>
            <a:srgbClr val="0F51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09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98448" y="15910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สรุปผล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92024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รวมงานวินัยไว้ที่เดียว ทดแทนสมุดกระดาษได้จริง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solidFill>
            <a:srgbClr val="FBF0D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990088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28712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อภิปรายผล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32004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PHP + MySQL คำนวณคะแนน Real-time ตอบโจทย์โรงเรียน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1696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ข้อเสนอแนะเพื่อพัฒนาต่อยอด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608576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4864608"/>
            <a:ext cx="402336" cy="402336"/>
          </a:xfrm>
          <a:prstGeom prst="ellipse">
            <a:avLst/>
          </a:prstGeom>
          <a:solidFill>
            <a:srgbClr val="E9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296" y="488289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Mobile App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3232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แอปมือถือ iOS / Android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4608576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17136" y="4864608"/>
            <a:ext cx="402336" cy="402336"/>
          </a:xfrm>
          <a:prstGeom prst="ellipse">
            <a:avLst/>
          </a:prstGeom>
          <a:solidFill>
            <a:srgbClr val="E9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7488" y="488289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แจ้งเตือนอัตโนมัติ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35424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LINE / SMS เมื่อตัดคะแนน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01584" y="4608576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93B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9328" y="4864608"/>
            <a:ext cx="402336" cy="402336"/>
          </a:xfrm>
          <a:prstGeom prst="ellipse">
            <a:avLst/>
          </a:prstGeom>
          <a:solidFill>
            <a:srgbClr val="E9F1EC"/>
          </a:solidFill>
          <a:ln/>
        </p:spPr>
      </p:sp>
      <p:sp>
        <p:nvSpPr>
          <p:cNvPr id="27" name="Text 25"/>
          <p:cNvSpPr/>
          <p:nvPr/>
        </p:nvSpPr>
        <p:spPr>
          <a:xfrm>
            <a:off x="8339328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69680" y="488289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ปัญญาประดิษฐ์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357616" y="5413248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พยากรณ์นักเรียนกลุ่มเสี่ยง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ระบบสารสนเทศการบริหารงานวินัยฯ · โรงเรียนศิริราษฎร์สามัคคี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81735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 / 15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4937760" cy="4937760"/>
          </a:xfrm>
          <a:prstGeom prst="ellipse">
            <a:avLst/>
          </a:prstGeom>
          <a:solidFill>
            <a:srgbClr val="0F513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solidFill>
            <a:srgbClr val="0F5132">
              <a:alpha val="3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12848"/>
            <a:ext cx="9445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ขอบพระคุณสำหรับการรับฟัง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145536"/>
            <a:ext cx="9445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0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พร้อมรับคำถามและข้อเสนอแนะจากคณะกรรมการ (Q&amp;A)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60036" y="4389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7" name="Image 0" descr="C:/xampp/htdocs/student-discipline-system/docs/manual_images/logo_univer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2060" y="4498848"/>
            <a:ext cx="530352" cy="694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14516" y="4389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E293B">
                <a:alpha val="12000"/>
              </a:srgbClr>
            </a:outerShdw>
          </a:effectLst>
        </p:spPr>
      </p:sp>
      <p:pic>
        <p:nvPicPr>
          <p:cNvPr id="9" name="Image 1" descr="C:/xampp/htdocs/student-discipline-system/public/image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56" y="4572000"/>
            <a:ext cx="73152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5705856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0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นายตอริก ลือแมะ (406665012)  ·  นายบุสริน มูซอ (406665027)  |  อาจารย์ที่ปรึกษา: อาจารย์แพรวศรี เดิมราช · อาจารย์รุสนี กาแมแล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14400" y="601675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BA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สาขาวิชาเทคโนโลยีสารสนเทศ  ·  คณะวิทยาศาสตร์ เทคโนโลยีและการเกษตร  ·  มหาวิทยาลัยราชภัฏยะลา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ระบบสารสนเทศการบริหารงานวินัยและติดตามพฤติกรรมนักเรียน</dc:title>
  <dc:subject>PptxGenJS Presentation</dc:subject>
  <dc:creator>ตอริก ลือแมะ · บุสริน มูซอ</dc:creator>
  <cp:lastModifiedBy>ตอริก ลือแมะ · บุสริน มูซอ</cp:lastModifiedBy>
  <cp:revision>1</cp:revision>
  <dcterms:created xsi:type="dcterms:W3CDTF">2026-09-26T19:30:38Z</dcterms:created>
  <dcterms:modified xsi:type="dcterms:W3CDTF">2026-09-26T19:30:38Z</dcterms:modified>
</cp:coreProperties>
</file>